
<file path=[Content_Types].xml><?xml version="1.0" encoding="utf-8"?>
<Types xmlns="http://schemas.openxmlformats.org/package/2006/content-types">
  <Default Extension="png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14.xml" ContentType="application/vnd.openxmlformats-officedocument.presentationml.comments+xml"/>
  <Override PartName="/ppt/comments/comment15.xml" ContentType="application/vnd.openxmlformats-officedocument.presentationml.comments+xml"/>
  <Override PartName="/ppt/comments/comment16.xml" ContentType="application/vnd.openxmlformats-officedocument.presentationml.comments+xml"/>
  <Override PartName="/ppt/comments/comment17.xml" ContentType="application/vnd.openxmlformats-officedocument.presentationml.comments+xml"/>
  <Override PartName="/ppt/comments/comment18.xml" ContentType="application/vnd.openxmlformats-officedocument.presentationml.comments+xml"/>
  <Override PartName="/ppt/comments/comment19.xml" ContentType="application/vnd.openxmlformats-officedocument.presentationml.comments+xml"/>
  <Override PartName="/ppt/comments/comment20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0" r:id="rId3"/>
    <p:sldId id="269" r:id="rId4"/>
    <p:sldId id="271" r:id="rId5"/>
    <p:sldId id="268" r:id="rId6"/>
    <p:sldId id="272" r:id="rId7"/>
    <p:sldId id="273" r:id="rId8"/>
    <p:sldId id="274" r:id="rId9"/>
    <p:sldId id="275" r:id="rId10"/>
    <p:sldId id="288" r:id="rId11"/>
    <p:sldId id="284" r:id="rId12"/>
    <p:sldId id="285" r:id="rId13"/>
    <p:sldId id="286" r:id="rId14"/>
    <p:sldId id="287" r:id="rId15"/>
    <p:sldId id="280" r:id="rId16"/>
    <p:sldId id="290" r:id="rId17"/>
    <p:sldId id="282" r:id="rId18"/>
    <p:sldId id="283" r:id="rId19"/>
    <p:sldId id="278" r:id="rId20"/>
    <p:sldId id="276" r:id="rId21"/>
    <p:sldId id="291" r:id="rId22"/>
    <p:sldId id="258" r:id="rId23"/>
    <p:sldId id="259" r:id="rId24"/>
    <p:sldId id="260" r:id="rId25"/>
    <p:sldId id="261" r:id="rId26"/>
    <p:sldId id="263" r:id="rId27"/>
    <p:sldId id="262" r:id="rId28"/>
    <p:sldId id="264" r:id="rId2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cio Robles" initials="RR" lastIdx="8" clrIdx="0">
    <p:extLst>
      <p:ext uri="{19B8F6BF-5375-455C-9EA6-DF929625EA0E}">
        <p15:presenceInfo xmlns:p15="http://schemas.microsoft.com/office/powerpoint/2012/main" userId="1040e4a43f7eb7a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B4467"/>
    <a:srgbClr val="767171"/>
    <a:srgbClr val="001D30"/>
    <a:srgbClr val="0A2536"/>
    <a:srgbClr val="0924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8" d="100"/>
          <a:sy n="68" d="100"/>
        </p:scale>
        <p:origin x="461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3T12:07:35.123" idx="7">
    <p:pos x="327" y="121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3T11:38:52.985" idx="3">
    <p:pos x="53" y="24"/>
    <p:text/>
    <p:extLst>
      <p:ext uri="{C676402C-5697-4E1C-873F-D02D1690AC5C}">
        <p15:threadingInfo xmlns:p15="http://schemas.microsoft.com/office/powerpoint/2012/main" timeZoneBias="180"/>
      </p:ext>
    </p:extLst>
  </p:cm>
  <p:cm authorId="1" dt="2026-09-13T11:46:15.161" idx="5">
    <p:pos x="53" y="160"/>
    <p:text>la hacer click sobre el boton se cambia la imagen principal de la seccion y se despliegan los sub-menus los cuales van cambiando segun se pase por encima o se aprete el click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2:12:47.650" idx="8">
    <p:pos x="53" y="296"/>
    <p:text>al hacer el click sobre el boton de sub menu, se despliega el texto y la linea de guia visual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1:54:44.390" idx="6">
    <p:pos x="476" y="323"/>
    <p:text>esta barrita se debe desplegar hasta enmarcar el sub-menú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3T11:38:52.985" idx="3">
    <p:pos x="53" y="24"/>
    <p:text/>
    <p:extLst>
      <p:ext uri="{C676402C-5697-4E1C-873F-D02D1690AC5C}">
        <p15:threadingInfo xmlns:p15="http://schemas.microsoft.com/office/powerpoint/2012/main" timeZoneBias="180"/>
      </p:ext>
    </p:extLst>
  </p:cm>
  <p:cm authorId="1" dt="2026-09-13T11:46:15.161" idx="5">
    <p:pos x="53" y="160"/>
    <p:text>la hacer click sobre el boton se cambia la imagen principal de la seccion y se despliegan los sub-menus los cuales van cambiando segun se pase por encima o se aprete el click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1:54:44.390" idx="6">
    <p:pos x="476" y="323"/>
    <p:text>esta barrita se debe desplegar hasta enmarcar el sub-menú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3T11:38:52.985" idx="3">
    <p:pos x="10" y="10"/>
    <p:text>cuando se pasa por encima del boton, se ilumina la linea y se cambia la transparencia del objeto boton</p:text>
    <p:extLst>
      <p:ext uri="{C676402C-5697-4E1C-873F-D02D1690AC5C}">
        <p15:threadingInfo xmlns:p15="http://schemas.microsoft.com/office/powerpoint/2012/main" timeZoneBias="180"/>
      </p:ext>
    </p:extLst>
  </p:cm>
  <p:cm authorId="1" dt="2026-09-13T11:46:15.161" idx="5">
    <p:pos x="10" y="146"/>
    <p:text>la hacer click sobre el boton se cambia la imagen principal de la seccion y se despliegan los sub-menus los cuales van cambiando segun se pase por encima o se aprete el click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1:54:44.390" idx="6">
    <p:pos x="476" y="323"/>
    <p:text>esta barrita se debe desplegar hasta enmarcar el sub-menú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3T11:38:52.985" idx="3">
    <p:pos x="10" y="10"/>
    <p:text>cuando se pasa por encima del boton, se ilumina la linea y se cambia la transparencia del objeto boton</p:text>
    <p:extLst>
      <p:ext uri="{C676402C-5697-4E1C-873F-D02D1690AC5C}">
        <p15:threadingInfo xmlns:p15="http://schemas.microsoft.com/office/powerpoint/2012/main" timeZoneBias="180"/>
      </p:ext>
    </p:extLst>
  </p:cm>
  <p:cm authorId="1" dt="2026-09-13T11:46:15.161" idx="5">
    <p:pos x="10" y="146"/>
    <p:text>la hacer click sobre el boton se cambia la imagen principal de la seccion y se despliegan los sub-menus los cuales van cambiando segun se pase por encima o se aprete el click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1:54:44.390" idx="6">
    <p:pos x="476" y="323"/>
    <p:text>esta barrita se debe desplegar hasta enmarcar el sub-menú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3T11:38:52.985" idx="3">
    <p:pos x="10" y="10"/>
    <p:text>cuando se pasa por encima del boton, se ilumina la linea y se cambia la transparencia del objeto boton</p:text>
    <p:extLst>
      <p:ext uri="{C676402C-5697-4E1C-873F-D02D1690AC5C}">
        <p15:threadingInfo xmlns:p15="http://schemas.microsoft.com/office/powerpoint/2012/main" timeZoneBias="180"/>
      </p:ext>
    </p:extLst>
  </p:cm>
  <p:cm authorId="1" dt="2026-09-13T11:46:15.161" idx="5">
    <p:pos x="10" y="146"/>
    <p:text>la hacer click sobre el boton se cambia la imagen principal de la seccion y se despliegan los sub-menus los cuales van cambiando segun se pase por encima o se aprete el click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1:54:44.390" idx="6">
    <p:pos x="476" y="323"/>
    <p:text>esta barrita se debe desplegar hasta enmarcar el sub-menú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3T11:38:52.985" idx="3">
    <p:pos x="10" y="10"/>
    <p:text>cuando se pasa por encima del boton, se ilumina la linea y se cambia la transparencia del objeto boton</p:text>
    <p:extLst>
      <p:ext uri="{C676402C-5697-4E1C-873F-D02D1690AC5C}">
        <p15:threadingInfo xmlns:p15="http://schemas.microsoft.com/office/powerpoint/2012/main" timeZoneBias="180"/>
      </p:ext>
    </p:extLst>
  </p:cm>
  <p:cm authorId="1" dt="2026-09-13T11:46:15.161" idx="5">
    <p:pos x="10" y="146"/>
    <p:text>la hacer click sobre el boton se cambia la imagen principal de la seccion y se despliegan los sub-menus los cuales van cambiando segun se pase por encima o se aprete el click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1:54:44.390" idx="6">
    <p:pos x="476" y="323"/>
    <p:text>esta barrita se debe desplegar hasta enmarcar el sub-menú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3T11:38:52.985" idx="3">
    <p:pos x="10" y="10"/>
    <p:text>cuando se pasa por encima del boton, se ilumina la linea y se cambia la transparencia del objeto boton</p:text>
    <p:extLst>
      <p:ext uri="{C676402C-5697-4E1C-873F-D02D1690AC5C}">
        <p15:threadingInfo xmlns:p15="http://schemas.microsoft.com/office/powerpoint/2012/main" timeZoneBias="180"/>
      </p:ext>
    </p:extLst>
  </p:cm>
  <p:cm authorId="1" dt="2026-09-13T11:46:15.161" idx="5">
    <p:pos x="10" y="146"/>
    <p:text>la hacer click sobre el boton se cambia la imagen principal de la seccion y se despliegan los sub-menus los cuales van cambiando segun se pase por encima o se aprete el click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1:54:44.390" idx="6">
    <p:pos x="476" y="323"/>
    <p:text>esta barrita se debe desplegar hasta enmarcar el sub-menú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3T11:38:52.985" idx="3">
    <p:pos x="53" y="24"/>
    <p:text/>
    <p:extLst>
      <p:ext uri="{C676402C-5697-4E1C-873F-D02D1690AC5C}">
        <p15:threadingInfo xmlns:p15="http://schemas.microsoft.com/office/powerpoint/2012/main" timeZoneBias="180"/>
      </p:ext>
    </p:extLst>
  </p:cm>
  <p:cm authorId="1" dt="2026-09-13T11:46:15.161" idx="5">
    <p:pos x="53" y="160"/>
    <p:text>la hacer click sobre el boton se cambia la imagen principal de la seccion y se despliegan los sub-menus los cuales van cambiando segun se pase por encima o se aprete el click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2:12:47.650" idx="8">
    <p:pos x="53" y="296"/>
    <p:text>al hacer el click sobre el boton de sub menu, se despliega el texto y la linea de guia visual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1:54:44.390" idx="6">
    <p:pos x="476" y="323"/>
    <p:text>esta barrita se debe desplegar hasta enmarcar el sub-menú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3T11:38:52.985" idx="3">
    <p:pos x="53" y="24"/>
    <p:text/>
    <p:extLst>
      <p:ext uri="{C676402C-5697-4E1C-873F-D02D1690AC5C}">
        <p15:threadingInfo xmlns:p15="http://schemas.microsoft.com/office/powerpoint/2012/main" timeZoneBias="180"/>
      </p:ext>
    </p:extLst>
  </p:cm>
  <p:cm authorId="1" dt="2026-09-13T11:46:15.161" idx="5">
    <p:pos x="53" y="160"/>
    <p:text>la hacer click sobre el boton se cambia la imagen principal de la seccion y se despliegan los sub-menus los cuales van cambiando segun se pase por encima o se aprete el click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2:12:47.650" idx="8">
    <p:pos x="53" y="296"/>
    <p:text>al hacer el click sobre el boton de sub menu, se despliega el texto y la linea de guia visual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1:54:44.390" idx="6">
    <p:pos x="476" y="323"/>
    <p:text>esta barrita se debe desplegar hasta enmarcar el sub-menú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3T11:38:52.985" idx="3">
    <p:pos x="53" y="24"/>
    <p:text/>
    <p:extLst>
      <p:ext uri="{C676402C-5697-4E1C-873F-D02D1690AC5C}">
        <p15:threadingInfo xmlns:p15="http://schemas.microsoft.com/office/powerpoint/2012/main" timeZoneBias="180"/>
      </p:ext>
    </p:extLst>
  </p:cm>
  <p:cm authorId="1" dt="2026-09-13T11:46:15.161" idx="5">
    <p:pos x="53" y="160"/>
    <p:text>la hacer click sobre el boton se cambia la imagen principal de la seccion y se despliegan los sub-menus los cuales van cambiando segun se pase por encima o se aprete el click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2:12:47.650" idx="8">
    <p:pos x="53" y="296"/>
    <p:text>al hacer el click sobre el boton de sub menu, se despliega el texto y la linea de guia visual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1:54:44.390" idx="6">
    <p:pos x="476" y="323"/>
    <p:text>esta barrita se debe desplegar hasta enmarcar el sub-menú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3T11:38:52.985" idx="3">
    <p:pos x="53" y="24"/>
    <p:text/>
    <p:extLst>
      <p:ext uri="{C676402C-5697-4E1C-873F-D02D1690AC5C}">
        <p15:threadingInfo xmlns:p15="http://schemas.microsoft.com/office/powerpoint/2012/main" timeZoneBias="180"/>
      </p:ext>
    </p:extLst>
  </p:cm>
  <p:cm authorId="1" dt="2026-09-13T11:46:15.161" idx="5">
    <p:pos x="53" y="160"/>
    <p:text>la hacer click sobre el boton se cambia la imagen principal de la seccion y se despliegan los sub-menus los cuales van cambiando segun se pase por encima o se aprete el click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2:12:47.650" idx="8">
    <p:pos x="53" y="296"/>
    <p:text>al hacer el click sobre el boton de sub menu, se despliega el texto y la linea de guia visual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1:54:44.390" idx="6">
    <p:pos x="476" y="323"/>
    <p:text>esta barrita se debe desplegar hasta enmarcar el sub-menú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3T11:38:52.985" idx="3">
    <p:pos x="53" y="24"/>
    <p:text/>
    <p:extLst>
      <p:ext uri="{C676402C-5697-4E1C-873F-D02D1690AC5C}">
        <p15:threadingInfo xmlns:p15="http://schemas.microsoft.com/office/powerpoint/2012/main" timeZoneBias="180"/>
      </p:ext>
    </p:extLst>
  </p:cm>
  <p:cm authorId="1" dt="2026-09-13T11:46:15.161" idx="5">
    <p:pos x="53" y="160"/>
    <p:text>la hacer click sobre el boton se cambia la imagen principal de la seccion y se despliegan los sub-menus los cuales van cambiando segun se pase por encima o se aprete el click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2:12:47.650" idx="8">
    <p:pos x="53" y="296"/>
    <p:text>al hacer el click sobre el boton de sub menu, se despliega el texto y la linea de guia visual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1:54:44.390" idx="6">
    <p:pos x="476" y="323"/>
    <p:text>esta barrita se debe desplegar hasta enmarcar el sub-menú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1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3T11:38:52.985" idx="3">
    <p:pos x="53" y="24"/>
    <p:text/>
    <p:extLst>
      <p:ext uri="{C676402C-5697-4E1C-873F-D02D1690AC5C}">
        <p15:threadingInfo xmlns:p15="http://schemas.microsoft.com/office/powerpoint/2012/main" timeZoneBias="180"/>
      </p:ext>
    </p:extLst>
  </p:cm>
  <p:cm authorId="1" dt="2026-09-13T11:46:15.161" idx="5">
    <p:pos x="53" y="160"/>
    <p:text>la hacer click sobre el boton se cambia la imagen principal de la seccion y se despliegan los sub-menus los cuales van cambiando segun se pase por encima o se aprete el click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2:12:47.650" idx="8">
    <p:pos x="53" y="296"/>
    <p:text>al hacer el click sobre el boton de sub menu, se despliega el texto y la linea de guia visual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1:54:44.390" idx="6">
    <p:pos x="476" y="323"/>
    <p:text>esta barrita se debe desplegar hasta enmarcar el sub-menú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1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3T11:38:52.985" idx="3">
    <p:pos x="53" y="24"/>
    <p:text/>
    <p:extLst>
      <p:ext uri="{C676402C-5697-4E1C-873F-D02D1690AC5C}">
        <p15:threadingInfo xmlns:p15="http://schemas.microsoft.com/office/powerpoint/2012/main" timeZoneBias="180"/>
      </p:ext>
    </p:extLst>
  </p:cm>
  <p:cm authorId="1" dt="2026-09-13T11:46:15.161" idx="5">
    <p:pos x="53" y="160"/>
    <p:text>la hacer click sobre el boton se cambia la imagen principal de la seccion y se despliegan los sub-menus los cuales van cambiando segun se pase por encima o se aprete el click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2:12:47.650" idx="8">
    <p:pos x="53" y="296"/>
    <p:text>al hacer el click sobre el boton de sub menu, se despliega el texto y la linea de guia visual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1:54:44.390" idx="6">
    <p:pos x="476" y="323"/>
    <p:text>esta barrita se debe desplegar hasta enmarcar el sub-menú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1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3T11:38:52.985" idx="3">
    <p:pos x="53" y="24"/>
    <p:text/>
    <p:extLst>
      <p:ext uri="{C676402C-5697-4E1C-873F-D02D1690AC5C}">
        <p15:threadingInfo xmlns:p15="http://schemas.microsoft.com/office/powerpoint/2012/main" timeZoneBias="180"/>
      </p:ext>
    </p:extLst>
  </p:cm>
  <p:cm authorId="1" dt="2026-09-13T11:46:15.161" idx="5">
    <p:pos x="53" y="160"/>
    <p:text>la hacer click sobre el boton se cambia la imagen principal de la seccion y se despliegan los sub-menus los cuales van cambiando segun se pase por encima o se aprete el click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2:12:47.650" idx="8">
    <p:pos x="53" y="296"/>
    <p:text>al hacer el click sobre el boton de sub menu, se despliega el texto y la linea de guia visual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1:54:44.390" idx="6">
    <p:pos x="476" y="323"/>
    <p:text>esta barrita se debe desplegar hasta enmarcar el sub-menú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1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3T11:38:52.985" idx="3">
    <p:pos x="53" y="24"/>
    <p:text/>
    <p:extLst>
      <p:ext uri="{C676402C-5697-4E1C-873F-D02D1690AC5C}">
        <p15:threadingInfo xmlns:p15="http://schemas.microsoft.com/office/powerpoint/2012/main" timeZoneBias="180"/>
      </p:ext>
    </p:extLst>
  </p:cm>
  <p:cm authorId="1" dt="2026-09-13T11:46:15.161" idx="5">
    <p:pos x="53" y="160"/>
    <p:text>la hacer click sobre el boton se cambia la imagen principal de la seccion y se despliegan los sub-menus los cuales van cambiando segun se pase por encima o se aprete el click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2:12:47.650" idx="8">
    <p:pos x="53" y="296"/>
    <p:text>al hacer el click sobre el boton de sub menu, se despliega el texto y la linea de guia visual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1:54:44.390" idx="6">
    <p:pos x="476" y="323"/>
    <p:text>esta barrita se debe desplegar hasta enmarcar el sub-menú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1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3T11:38:52.985" idx="3">
    <p:pos x="53" y="24"/>
    <p:text/>
    <p:extLst>
      <p:ext uri="{C676402C-5697-4E1C-873F-D02D1690AC5C}">
        <p15:threadingInfo xmlns:p15="http://schemas.microsoft.com/office/powerpoint/2012/main" timeZoneBias="180"/>
      </p:ext>
    </p:extLst>
  </p:cm>
  <p:cm authorId="1" dt="2026-09-13T11:46:15.161" idx="5">
    <p:pos x="53" y="160"/>
    <p:text>la hacer click sobre el boton se cambia la imagen principal de la seccion y se despliegan los sub-menus los cuales van cambiando segun se pase por encima o se aprete el click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2:12:47.650" idx="8">
    <p:pos x="53" y="296"/>
    <p:text>al hacer el click sobre el boton de sub menu, se despliega el texto y la linea de guia visual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1:54:44.390" idx="6">
    <p:pos x="476" y="323"/>
    <p:text>esta barrita se debe desplegar hasta enmarcar el sub-menú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1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3T11:38:52.985" idx="3">
    <p:pos x="53" y="24"/>
    <p:text/>
    <p:extLst>
      <p:ext uri="{C676402C-5697-4E1C-873F-D02D1690AC5C}">
        <p15:threadingInfo xmlns:p15="http://schemas.microsoft.com/office/powerpoint/2012/main" timeZoneBias="180"/>
      </p:ext>
    </p:extLst>
  </p:cm>
  <p:cm authorId="1" dt="2026-09-13T11:46:15.161" idx="5">
    <p:pos x="53" y="160"/>
    <p:text>la hacer click sobre el boton se cambia la imagen principal de la seccion y se despliegan los sub-menus los cuales van cambiando segun se pase por encima o se aprete el click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2:12:47.650" idx="8">
    <p:pos x="53" y="296"/>
    <p:text>al hacer el click sobre el boton de sub menu, se despliega el texto y la linea de guia visual</p:text>
    <p:extLst>
      <p:ext uri="{C676402C-5697-4E1C-873F-D02D1690AC5C}">
        <p15:threadingInfo xmlns:p15="http://schemas.microsoft.com/office/powerpoint/2012/main" timeZoneBias="180">
          <p15:parentCm authorId="1" idx="3"/>
        </p15:threadingInfo>
      </p:ext>
    </p:extLst>
  </p:cm>
  <p:cm authorId="1" dt="2026-09-13T11:54:44.390" idx="6">
    <p:pos x="476" y="323"/>
    <p:text>esta barrita se debe desplegar hasta enmarcar el sub-menú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2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2T11:58:15.404" idx="1">
    <p:pos x="3029" y="1548"/>
    <p:text>reconocer el pliego tarifario coreespindiente al mmes en curso</p:text>
    <p:extLst>
      <p:ext uri="{C676402C-5697-4E1C-873F-D02D1690AC5C}">
        <p15:threadingInfo xmlns:p15="http://schemas.microsoft.com/office/powerpoint/2012/main" timeZoneBias="180"/>
      </p:ext>
    </p:extLst>
  </p:cm>
  <p:cm authorId="1" dt="2026-09-12T11:59:03.697" idx="2">
    <p:pos x="3029" y="1684"/>
    <p:text>286 pesos por kW h Mes BTI</p:text>
    <p:extLst>
      <p:ext uri="{C676402C-5697-4E1C-873F-D02D1690AC5C}">
        <p15:threadingInfo xmlns:p15="http://schemas.microsoft.com/office/powerpoint/2012/main" timeZoneBias="180">
          <p15:parentCm authorId="1" idx="1"/>
        </p15:threadingInfo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DF3A-BD2B-40E7-AB4D-CF51D7A51CB7}" type="datetimeFigureOut">
              <a:rPr lang="es-CL" smtClean="0"/>
              <a:t>12-09-2026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C75B-181D-4B3D-80AE-3F2FD740A4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6613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DF3A-BD2B-40E7-AB4D-CF51D7A51CB7}" type="datetimeFigureOut">
              <a:rPr lang="es-CL" smtClean="0"/>
              <a:t>12-09-2026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C75B-181D-4B3D-80AE-3F2FD740A4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85749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DF3A-BD2B-40E7-AB4D-CF51D7A51CB7}" type="datetimeFigureOut">
              <a:rPr lang="es-CL" smtClean="0"/>
              <a:t>12-09-2026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C75B-181D-4B3D-80AE-3F2FD740A4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5072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DF3A-BD2B-40E7-AB4D-CF51D7A51CB7}" type="datetimeFigureOut">
              <a:rPr lang="es-CL" smtClean="0"/>
              <a:t>12-09-2026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C75B-181D-4B3D-80AE-3F2FD740A4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77573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DF3A-BD2B-40E7-AB4D-CF51D7A51CB7}" type="datetimeFigureOut">
              <a:rPr lang="es-CL" smtClean="0"/>
              <a:t>12-09-2026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C75B-181D-4B3D-80AE-3F2FD740A4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60418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DF3A-BD2B-40E7-AB4D-CF51D7A51CB7}" type="datetimeFigureOut">
              <a:rPr lang="es-CL" smtClean="0"/>
              <a:t>12-09-2026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C75B-181D-4B3D-80AE-3F2FD740A4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36493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DF3A-BD2B-40E7-AB4D-CF51D7A51CB7}" type="datetimeFigureOut">
              <a:rPr lang="es-CL" smtClean="0"/>
              <a:t>12-09-2026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C75B-181D-4B3D-80AE-3F2FD740A4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5020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DF3A-BD2B-40E7-AB4D-CF51D7A51CB7}" type="datetimeFigureOut">
              <a:rPr lang="es-CL" smtClean="0"/>
              <a:t>12-09-2026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C75B-181D-4B3D-80AE-3F2FD740A4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72369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DF3A-BD2B-40E7-AB4D-CF51D7A51CB7}" type="datetimeFigureOut">
              <a:rPr lang="es-CL" smtClean="0"/>
              <a:t>12-09-2026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C75B-181D-4B3D-80AE-3F2FD740A4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0652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DF3A-BD2B-40E7-AB4D-CF51D7A51CB7}" type="datetimeFigureOut">
              <a:rPr lang="es-CL" smtClean="0"/>
              <a:t>12-09-2026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C75B-181D-4B3D-80AE-3F2FD740A4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2894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DF3A-BD2B-40E7-AB4D-CF51D7A51CB7}" type="datetimeFigureOut">
              <a:rPr lang="es-CL" smtClean="0"/>
              <a:t>12-09-2026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EC75B-181D-4B3D-80AE-3F2FD740A4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3752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DDF3A-BD2B-40E7-AB4D-CF51D7A51CB7}" type="datetimeFigureOut">
              <a:rPr lang="es-CL" smtClean="0"/>
              <a:t>12-09-2026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EC75B-181D-4B3D-80AE-3F2FD740A4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1750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web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8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9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0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3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4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5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6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8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9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68" y="655239"/>
            <a:ext cx="8668145" cy="5788420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57" name="Grupo 56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48" name="CuadroTexto 47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información</a:t>
              </a:r>
            </a:p>
          </p:txBody>
        </p:sp>
        <p:sp>
          <p:nvSpPr>
            <p:cNvPr id="49" name="CuadroTexto 4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50" name="CuadroTexto 4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servicios</a:t>
              </a:r>
            </a:p>
          </p:txBody>
        </p:sp>
        <p:sp>
          <p:nvSpPr>
            <p:cNvPr id="51" name="CuadroTexto 5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52" name="CuadroTexto 5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calculadora</a:t>
              </a:r>
            </a:p>
          </p:txBody>
        </p:sp>
        <p:sp>
          <p:nvSpPr>
            <p:cNvPr id="54" name="CuadroTexto 53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cotiza</a:t>
              </a:r>
            </a:p>
          </p:txBody>
        </p:sp>
        <p:sp>
          <p:nvSpPr>
            <p:cNvPr id="55" name="CuadroTexto 54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contacto</a:t>
              </a:r>
            </a:p>
          </p:txBody>
        </p:sp>
        <p:sp>
          <p:nvSpPr>
            <p:cNvPr id="56" name="CuadroTexto 55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asistencia</a:t>
              </a:r>
            </a:p>
          </p:txBody>
        </p:sp>
      </p:grpSp>
      <p:sp>
        <p:nvSpPr>
          <p:cNvPr id="22" name="Rectángulo redondeado 21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  <p:grpSp>
        <p:nvGrpSpPr>
          <p:cNvPr id="12" name="Grupo 11"/>
          <p:cNvGrpSpPr/>
          <p:nvPr/>
        </p:nvGrpSpPr>
        <p:grpSpPr>
          <a:xfrm>
            <a:off x="10001956" y="6205858"/>
            <a:ext cx="1977488" cy="475602"/>
            <a:chOff x="9403166" y="6130780"/>
            <a:chExt cx="2519833" cy="606041"/>
          </a:xfrm>
        </p:grpSpPr>
        <p:pic>
          <p:nvPicPr>
            <p:cNvPr id="31" name="Imagen 30"/>
            <p:cNvPicPr>
              <a:picLocks noChangeAspect="1"/>
            </p:cNvPicPr>
            <p:nvPr/>
          </p:nvPicPr>
          <p:blipFill>
            <a:blip r:embed="rId4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13831" y="6130780"/>
              <a:ext cx="600846" cy="606041"/>
            </a:xfrm>
            <a:prstGeom prst="rect">
              <a:avLst/>
            </a:prstGeom>
          </p:spPr>
        </p:pic>
        <p:pic>
          <p:nvPicPr>
            <p:cNvPr id="32" name="Imagen 31"/>
            <p:cNvPicPr>
              <a:picLocks noChangeAspect="1"/>
            </p:cNvPicPr>
            <p:nvPr/>
          </p:nvPicPr>
          <p:blipFill>
            <a:blip r:embed="rId5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379199" y="6182267"/>
              <a:ext cx="543800" cy="543800"/>
            </a:xfrm>
            <a:prstGeom prst="rect">
              <a:avLst/>
            </a:prstGeom>
          </p:spPr>
        </p:pic>
        <p:pic>
          <p:nvPicPr>
            <p:cNvPr id="3074" name="Picture 2" descr="Íconos de inicial en SVG, PNG, AI para descargar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8095" y="6204845"/>
              <a:ext cx="472324" cy="4723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Flecha izquierda 10"/>
            <p:cNvSpPr/>
            <p:nvPr/>
          </p:nvSpPr>
          <p:spPr>
            <a:xfrm>
              <a:off x="9403166" y="6290674"/>
              <a:ext cx="315616" cy="309282"/>
            </a:xfrm>
            <a:prstGeom prst="leftArrow">
              <a:avLst/>
            </a:prstGeom>
            <a:noFill/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750803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68" y="655239"/>
            <a:ext cx="8668145" cy="5788420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17" name="CuadroTexto 16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información</a:t>
              </a:r>
              <a:endParaRPr lang="es-CL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rgbClr val="00FFFF">
                <a:alpha val="20000"/>
              </a:srgbClr>
            </a:solidFill>
            <a:ln>
              <a:solidFill>
                <a:srgbClr val="00FFFF"/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2"/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servicios</a:t>
              </a:r>
              <a:endParaRPr lang="es-CL" dirty="0"/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calculadora</a:t>
              </a:r>
              <a:endParaRPr lang="es-CL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cotiza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contacto</a:t>
              </a:r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asistencia</a:t>
              </a:r>
              <a:endParaRPr lang="es-CL" dirty="0"/>
            </a:p>
          </p:txBody>
        </p:sp>
      </p:grpSp>
      <p:sp>
        <p:nvSpPr>
          <p:cNvPr id="36" name="Rectángulo redondeado 35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85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68" y="666740"/>
            <a:ext cx="8668145" cy="5765417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17" name="CuadroTexto 16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información</a:t>
              </a:r>
              <a:endParaRPr lang="es-CL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servicios</a:t>
              </a:r>
              <a:endParaRPr lang="es-CL" dirty="0"/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rgbClr val="00FFFF">
                <a:alpha val="20000"/>
              </a:srgbClr>
            </a:solidFill>
            <a:ln>
              <a:solidFill>
                <a:srgbClr val="00FFFF"/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2"/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calculadora</a:t>
              </a:r>
              <a:endParaRPr lang="es-CL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cotiza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contacto</a:t>
              </a:r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asistencia</a:t>
              </a:r>
              <a:endParaRPr lang="es-CL" dirty="0"/>
            </a:p>
          </p:txBody>
        </p:sp>
      </p:grpSp>
      <p:cxnSp>
        <p:nvCxnSpPr>
          <p:cNvPr id="26" name="Conector recto 25"/>
          <p:cNvCxnSpPr/>
          <p:nvPr/>
        </p:nvCxnSpPr>
        <p:spPr>
          <a:xfrm>
            <a:off x="756356" y="512199"/>
            <a:ext cx="0" cy="2983212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27" name="CuadroTexto 26"/>
          <p:cNvSpPr txBox="1"/>
          <p:nvPr/>
        </p:nvSpPr>
        <p:spPr>
          <a:xfrm>
            <a:off x="902910" y="1727245"/>
            <a:ext cx="1865220" cy="369332"/>
          </a:xfrm>
          <a:prstGeom prst="rect">
            <a:avLst/>
          </a:prstGeom>
          <a:solidFill>
            <a:srgbClr val="00FFFF">
              <a:alpha val="7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visión </a:t>
            </a:r>
            <a:r>
              <a:rPr lang="es-CL" dirty="0"/>
              <a:t>y misión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895218" y="3126079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2"/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>
                <a:solidFill>
                  <a:schemeClr val="bg1">
                    <a:lumMod val="95000"/>
                  </a:schemeClr>
                </a:solidFill>
              </a:rPr>
              <a:t>ODS</a:t>
            </a:r>
            <a:endParaRPr lang="es-CL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902910" y="79810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EFICIAN</a:t>
            </a:r>
          </a:p>
        </p:txBody>
      </p:sp>
      <p:sp>
        <p:nvSpPr>
          <p:cNvPr id="30" name="CuadroTexto 29"/>
          <p:cNvSpPr txBox="1"/>
          <p:nvPr/>
        </p:nvSpPr>
        <p:spPr>
          <a:xfrm>
            <a:off x="891026" y="1269613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que </a:t>
            </a:r>
            <a:r>
              <a:rPr lang="es-CL" dirty="0"/>
              <a:t>hacemos</a:t>
            </a:r>
          </a:p>
        </p:txBody>
      </p:sp>
      <p:sp>
        <p:nvSpPr>
          <p:cNvPr id="31" name="CuadroTexto 30"/>
          <p:cNvSpPr txBox="1"/>
          <p:nvPr/>
        </p:nvSpPr>
        <p:spPr>
          <a:xfrm>
            <a:off x="902910" y="2664128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2"/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>
                <a:solidFill>
                  <a:schemeClr val="bg1">
                    <a:lumMod val="95000"/>
                  </a:schemeClr>
                </a:solidFill>
              </a:rPr>
              <a:t>valores</a:t>
            </a:r>
            <a:endParaRPr lang="es-CL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891026" y="2188346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2"/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>
                <a:solidFill>
                  <a:schemeClr val="bg1">
                    <a:lumMod val="95000"/>
                  </a:schemeClr>
                </a:solidFill>
              </a:rPr>
              <a:t>propósito</a:t>
            </a:r>
            <a:endParaRPr lang="es-CL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4" name="Rectángulo redondeado 33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109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68" y="666740"/>
            <a:ext cx="8668145" cy="5765417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17" name="CuadroTexto 16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información</a:t>
              </a:r>
              <a:endParaRPr lang="es-CL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servicios</a:t>
              </a:r>
              <a:endParaRPr lang="es-CL" dirty="0"/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rgbClr val="00FFFF">
                <a:alpha val="20000"/>
              </a:srgbClr>
            </a:solidFill>
            <a:ln>
              <a:solidFill>
                <a:srgbClr val="00FFFF"/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2"/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calculadora</a:t>
              </a:r>
              <a:endParaRPr lang="es-CL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cotiza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contacto</a:t>
              </a:r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asistencia</a:t>
              </a:r>
              <a:endParaRPr lang="es-CL" dirty="0"/>
            </a:p>
          </p:txBody>
        </p:sp>
      </p:grpSp>
      <p:cxnSp>
        <p:nvCxnSpPr>
          <p:cNvPr id="26" name="Conector recto 25"/>
          <p:cNvCxnSpPr/>
          <p:nvPr/>
        </p:nvCxnSpPr>
        <p:spPr>
          <a:xfrm>
            <a:off x="756356" y="512199"/>
            <a:ext cx="0" cy="2983212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27" name="CuadroTexto 26"/>
          <p:cNvSpPr txBox="1"/>
          <p:nvPr/>
        </p:nvSpPr>
        <p:spPr>
          <a:xfrm>
            <a:off x="902910" y="172724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>
                <a:solidFill>
                  <a:schemeClr val="bg1">
                    <a:lumMod val="95000"/>
                  </a:schemeClr>
                </a:solidFill>
              </a:rPr>
              <a:t>visión </a:t>
            </a:r>
            <a:r>
              <a:rPr lang="es-CL" dirty="0">
                <a:solidFill>
                  <a:schemeClr val="bg1">
                    <a:lumMod val="95000"/>
                  </a:schemeClr>
                </a:solidFill>
              </a:rPr>
              <a:t>y misión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895218" y="3126079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2"/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>
                <a:solidFill>
                  <a:schemeClr val="bg1">
                    <a:lumMod val="95000"/>
                  </a:schemeClr>
                </a:solidFill>
              </a:rPr>
              <a:t>ODS</a:t>
            </a:r>
            <a:endParaRPr lang="es-CL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902910" y="798105"/>
            <a:ext cx="1865220" cy="369332"/>
          </a:xfrm>
          <a:prstGeom prst="rect">
            <a:avLst/>
          </a:prstGeom>
          <a:solidFill>
            <a:srgbClr val="00FFFF">
              <a:alpha val="7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EFICIAN</a:t>
            </a:r>
          </a:p>
        </p:txBody>
      </p:sp>
      <p:sp>
        <p:nvSpPr>
          <p:cNvPr id="30" name="CuadroTexto 29"/>
          <p:cNvSpPr txBox="1"/>
          <p:nvPr/>
        </p:nvSpPr>
        <p:spPr>
          <a:xfrm>
            <a:off x="891026" y="1269613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que </a:t>
            </a:r>
            <a:r>
              <a:rPr lang="es-CL" dirty="0"/>
              <a:t>hacemos</a:t>
            </a:r>
          </a:p>
        </p:txBody>
      </p:sp>
      <p:sp>
        <p:nvSpPr>
          <p:cNvPr id="31" name="CuadroTexto 30"/>
          <p:cNvSpPr txBox="1"/>
          <p:nvPr/>
        </p:nvSpPr>
        <p:spPr>
          <a:xfrm>
            <a:off x="902910" y="2664128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2"/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>
                <a:solidFill>
                  <a:schemeClr val="bg1">
                    <a:lumMod val="95000"/>
                  </a:schemeClr>
                </a:solidFill>
              </a:rPr>
              <a:t>valores</a:t>
            </a:r>
            <a:endParaRPr lang="es-CL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7500633" y="2539282"/>
            <a:ext cx="4556698" cy="1754326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Somos una empresa de soluciones energéticas, sostenibilidad, ingeniería y recursos renovables que integra tecnología para impulsar desarrollo sostenible, transformación energética y compromiso  local.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cxnSp>
        <p:nvCxnSpPr>
          <p:cNvPr id="32" name="Conector recto 31"/>
          <p:cNvCxnSpPr/>
          <p:nvPr/>
        </p:nvCxnSpPr>
        <p:spPr>
          <a:xfrm>
            <a:off x="7309366" y="982771"/>
            <a:ext cx="0" cy="2328927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cxnSp>
        <p:nvCxnSpPr>
          <p:cNvPr id="6" name="Conector recto 5"/>
          <p:cNvCxnSpPr/>
          <p:nvPr/>
        </p:nvCxnSpPr>
        <p:spPr>
          <a:xfrm flipH="1">
            <a:off x="2768130" y="982771"/>
            <a:ext cx="4541236" cy="0"/>
          </a:xfrm>
          <a:prstGeom prst="line">
            <a:avLst/>
          </a:prstGeom>
          <a:ln>
            <a:solidFill>
              <a:srgbClr val="00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/>
          <p:cNvSpPr txBox="1"/>
          <p:nvPr/>
        </p:nvSpPr>
        <p:spPr>
          <a:xfrm>
            <a:off x="891026" y="2188346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2"/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>
                <a:solidFill>
                  <a:schemeClr val="bg1">
                    <a:lumMod val="95000"/>
                  </a:schemeClr>
                </a:solidFill>
              </a:rPr>
              <a:t>propósito</a:t>
            </a:r>
            <a:endParaRPr lang="es-CL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3" name="Rectángulo redondeado 32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4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68" y="666740"/>
            <a:ext cx="8668145" cy="5765417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17" name="CuadroTexto 16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información</a:t>
              </a:r>
              <a:endParaRPr lang="es-CL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servicios</a:t>
              </a:r>
              <a:endParaRPr lang="es-CL" dirty="0"/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rgbClr val="00FFFF">
                <a:alpha val="20000"/>
              </a:srgbClr>
            </a:solidFill>
            <a:ln>
              <a:solidFill>
                <a:srgbClr val="00FFFF"/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2"/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calculadora</a:t>
              </a:r>
              <a:endParaRPr lang="es-CL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cotiza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contacto</a:t>
              </a:r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asistencia</a:t>
              </a:r>
              <a:endParaRPr lang="es-CL" dirty="0"/>
            </a:p>
          </p:txBody>
        </p:sp>
      </p:grpSp>
      <p:cxnSp>
        <p:nvCxnSpPr>
          <p:cNvPr id="26" name="Conector recto 25"/>
          <p:cNvCxnSpPr/>
          <p:nvPr/>
        </p:nvCxnSpPr>
        <p:spPr>
          <a:xfrm>
            <a:off x="756356" y="512199"/>
            <a:ext cx="0" cy="2983212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27" name="CuadroTexto 26"/>
          <p:cNvSpPr txBox="1"/>
          <p:nvPr/>
        </p:nvSpPr>
        <p:spPr>
          <a:xfrm>
            <a:off x="902910" y="172724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>
                <a:solidFill>
                  <a:schemeClr val="bg1">
                    <a:lumMod val="95000"/>
                  </a:schemeClr>
                </a:solidFill>
              </a:rPr>
              <a:t>visión </a:t>
            </a:r>
            <a:r>
              <a:rPr lang="es-CL" dirty="0">
                <a:solidFill>
                  <a:schemeClr val="bg1">
                    <a:lumMod val="95000"/>
                  </a:schemeClr>
                </a:solidFill>
              </a:rPr>
              <a:t>y misión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895218" y="3126079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2"/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>
                <a:solidFill>
                  <a:schemeClr val="bg1">
                    <a:lumMod val="95000"/>
                  </a:schemeClr>
                </a:solidFill>
              </a:rPr>
              <a:t>ODS</a:t>
            </a:r>
            <a:endParaRPr lang="es-CL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902910" y="79810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EFICIAN</a:t>
            </a:r>
          </a:p>
        </p:txBody>
      </p:sp>
      <p:sp>
        <p:nvSpPr>
          <p:cNvPr id="30" name="CuadroTexto 29"/>
          <p:cNvSpPr txBox="1"/>
          <p:nvPr/>
        </p:nvSpPr>
        <p:spPr>
          <a:xfrm>
            <a:off x="891026" y="1269613"/>
            <a:ext cx="1865220" cy="369332"/>
          </a:xfrm>
          <a:prstGeom prst="rect">
            <a:avLst/>
          </a:prstGeom>
          <a:solidFill>
            <a:srgbClr val="00FFFF">
              <a:alpha val="7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q</a:t>
            </a:r>
            <a:r>
              <a:rPr lang="es-CL" dirty="0" smtClean="0"/>
              <a:t>ue </a:t>
            </a:r>
            <a:r>
              <a:rPr lang="es-CL" dirty="0"/>
              <a:t>hacemos</a:t>
            </a:r>
          </a:p>
        </p:txBody>
      </p:sp>
      <p:sp>
        <p:nvSpPr>
          <p:cNvPr id="31" name="CuadroTexto 30"/>
          <p:cNvSpPr txBox="1"/>
          <p:nvPr/>
        </p:nvSpPr>
        <p:spPr>
          <a:xfrm>
            <a:off x="902910" y="2664128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2"/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>
                <a:solidFill>
                  <a:schemeClr val="bg1">
                    <a:lumMod val="95000"/>
                  </a:schemeClr>
                </a:solidFill>
              </a:rPr>
              <a:t>valores</a:t>
            </a:r>
            <a:endParaRPr lang="es-CL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7500633" y="2218393"/>
            <a:ext cx="4556698" cy="2308324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Diseñamos e implementamos proyectos de eficiencia energética y tecnología aplicada, transformando el consumo energético en ahorro, autonomía y crecimiento. Nuestro enfoque combina innovación técnica con impacto real, eliminando barreras de acceso para acelerar la transición hacia un futuro sostenible.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cxnSp>
        <p:nvCxnSpPr>
          <p:cNvPr id="32" name="Conector recto 31"/>
          <p:cNvCxnSpPr/>
          <p:nvPr/>
        </p:nvCxnSpPr>
        <p:spPr>
          <a:xfrm>
            <a:off x="7309366" y="1434327"/>
            <a:ext cx="0" cy="1877371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cxnSp>
        <p:nvCxnSpPr>
          <p:cNvPr id="6" name="Conector recto 5"/>
          <p:cNvCxnSpPr/>
          <p:nvPr/>
        </p:nvCxnSpPr>
        <p:spPr>
          <a:xfrm flipH="1">
            <a:off x="2768130" y="1434327"/>
            <a:ext cx="4541236" cy="0"/>
          </a:xfrm>
          <a:prstGeom prst="line">
            <a:avLst/>
          </a:prstGeom>
          <a:ln>
            <a:solidFill>
              <a:srgbClr val="00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/>
          <p:cNvSpPr txBox="1"/>
          <p:nvPr/>
        </p:nvSpPr>
        <p:spPr>
          <a:xfrm>
            <a:off x="891026" y="2188346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2"/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>
                <a:solidFill>
                  <a:schemeClr val="bg1">
                    <a:lumMod val="95000"/>
                  </a:schemeClr>
                </a:solidFill>
              </a:rPr>
              <a:t>propósito</a:t>
            </a:r>
            <a:endParaRPr lang="es-CL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0" name="Rectángulo redondeado 39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03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68" y="666740"/>
            <a:ext cx="8668145" cy="5765417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17" name="CuadroTexto 16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información</a:t>
              </a:r>
              <a:endParaRPr lang="es-CL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servicios</a:t>
              </a:r>
              <a:endParaRPr lang="es-CL" dirty="0"/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rgbClr val="00FFFF">
                <a:alpha val="20000"/>
              </a:srgbClr>
            </a:solidFill>
            <a:ln>
              <a:solidFill>
                <a:srgbClr val="00FFFF"/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2"/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calculadora</a:t>
              </a:r>
              <a:endParaRPr lang="es-CL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cotiza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contacto</a:t>
              </a:r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asistencia</a:t>
              </a:r>
              <a:endParaRPr lang="es-CL" dirty="0"/>
            </a:p>
          </p:txBody>
        </p:sp>
      </p:grpSp>
      <p:cxnSp>
        <p:nvCxnSpPr>
          <p:cNvPr id="26" name="Conector recto 25"/>
          <p:cNvCxnSpPr/>
          <p:nvPr/>
        </p:nvCxnSpPr>
        <p:spPr>
          <a:xfrm>
            <a:off x="756356" y="512199"/>
            <a:ext cx="0" cy="2983212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27" name="CuadroTexto 26"/>
          <p:cNvSpPr txBox="1"/>
          <p:nvPr/>
        </p:nvSpPr>
        <p:spPr>
          <a:xfrm>
            <a:off x="902910" y="1727245"/>
            <a:ext cx="1865220" cy="369332"/>
          </a:xfrm>
          <a:prstGeom prst="rect">
            <a:avLst/>
          </a:prstGeom>
          <a:solidFill>
            <a:srgbClr val="00FFFF">
              <a:alpha val="7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visión </a:t>
            </a:r>
            <a:r>
              <a:rPr lang="es-CL" dirty="0"/>
              <a:t>y misión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895218" y="3126079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2"/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>
                <a:solidFill>
                  <a:schemeClr val="bg1">
                    <a:lumMod val="95000"/>
                  </a:schemeClr>
                </a:solidFill>
              </a:rPr>
              <a:t>ODS</a:t>
            </a:r>
            <a:endParaRPr lang="es-CL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902910" y="79810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EFICIAN</a:t>
            </a:r>
          </a:p>
        </p:txBody>
      </p:sp>
      <p:sp>
        <p:nvSpPr>
          <p:cNvPr id="30" name="CuadroTexto 29"/>
          <p:cNvSpPr txBox="1"/>
          <p:nvPr/>
        </p:nvSpPr>
        <p:spPr>
          <a:xfrm>
            <a:off x="891026" y="1269613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que </a:t>
            </a:r>
            <a:r>
              <a:rPr lang="es-CL" dirty="0"/>
              <a:t>hacemos</a:t>
            </a:r>
          </a:p>
        </p:txBody>
      </p:sp>
      <p:sp>
        <p:nvSpPr>
          <p:cNvPr id="31" name="CuadroTexto 30"/>
          <p:cNvSpPr txBox="1"/>
          <p:nvPr/>
        </p:nvSpPr>
        <p:spPr>
          <a:xfrm>
            <a:off x="902910" y="2664128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2"/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>
                <a:solidFill>
                  <a:schemeClr val="bg1">
                    <a:lumMod val="95000"/>
                  </a:schemeClr>
                </a:solidFill>
              </a:rPr>
              <a:t>valores</a:t>
            </a:r>
            <a:endParaRPr lang="es-CL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7500633" y="2218393"/>
            <a:ext cx="4556698" cy="2308324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Impulsar el desarrollo sustentable por medio del diseño e implementación de soluciones energéticas eficientes que integren ingeniería avanzada, innovación y energías renovables, facilitando el acceso a proyectos sostenibles mediante modelos de financiamiento colaborativo y adecuada autogestión de recursos naturales.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cxnSp>
        <p:nvCxnSpPr>
          <p:cNvPr id="32" name="Conector recto 31"/>
          <p:cNvCxnSpPr/>
          <p:nvPr/>
        </p:nvCxnSpPr>
        <p:spPr>
          <a:xfrm>
            <a:off x="7309366" y="1919749"/>
            <a:ext cx="0" cy="1391949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cxnSp>
        <p:nvCxnSpPr>
          <p:cNvPr id="6" name="Conector recto 5"/>
          <p:cNvCxnSpPr/>
          <p:nvPr/>
        </p:nvCxnSpPr>
        <p:spPr>
          <a:xfrm flipH="1">
            <a:off x="2768130" y="1919749"/>
            <a:ext cx="4541236" cy="0"/>
          </a:xfrm>
          <a:prstGeom prst="line">
            <a:avLst/>
          </a:prstGeom>
          <a:ln>
            <a:solidFill>
              <a:srgbClr val="00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/>
          <p:cNvSpPr txBox="1"/>
          <p:nvPr/>
        </p:nvSpPr>
        <p:spPr>
          <a:xfrm>
            <a:off x="891026" y="2188346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2"/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>
                <a:solidFill>
                  <a:schemeClr val="bg1">
                    <a:lumMod val="95000"/>
                  </a:schemeClr>
                </a:solidFill>
              </a:rPr>
              <a:t>propósito</a:t>
            </a:r>
            <a:endParaRPr lang="es-CL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4" name="Rectángulo redondeado 33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46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68" y="666740"/>
            <a:ext cx="8668145" cy="5765417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17" name="CuadroTexto 16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información</a:t>
              </a:r>
              <a:endParaRPr lang="es-CL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servicios</a:t>
              </a:r>
              <a:endParaRPr lang="es-CL" dirty="0"/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rgbClr val="00FFFF">
                <a:alpha val="20000"/>
              </a:srgbClr>
            </a:solidFill>
            <a:ln>
              <a:solidFill>
                <a:srgbClr val="00FFFF"/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2"/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calculadora</a:t>
              </a:r>
              <a:endParaRPr lang="es-CL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cotiza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contacto</a:t>
              </a:r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asistencia</a:t>
              </a:r>
              <a:endParaRPr lang="es-CL" dirty="0"/>
            </a:p>
          </p:txBody>
        </p:sp>
      </p:grpSp>
      <p:cxnSp>
        <p:nvCxnSpPr>
          <p:cNvPr id="26" name="Conector recto 25"/>
          <p:cNvCxnSpPr/>
          <p:nvPr/>
        </p:nvCxnSpPr>
        <p:spPr>
          <a:xfrm>
            <a:off x="756356" y="512199"/>
            <a:ext cx="0" cy="2983212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27" name="CuadroTexto 26"/>
          <p:cNvSpPr txBox="1"/>
          <p:nvPr/>
        </p:nvSpPr>
        <p:spPr>
          <a:xfrm>
            <a:off x="902910" y="172724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visión </a:t>
            </a:r>
            <a:r>
              <a:rPr lang="es-CL" dirty="0"/>
              <a:t>y misión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895218" y="3126079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2"/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>
                <a:solidFill>
                  <a:schemeClr val="bg1">
                    <a:lumMod val="95000"/>
                  </a:schemeClr>
                </a:solidFill>
              </a:rPr>
              <a:t>ODS</a:t>
            </a:r>
            <a:endParaRPr lang="es-CL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902910" y="79810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EFICIAN</a:t>
            </a:r>
          </a:p>
        </p:txBody>
      </p:sp>
      <p:sp>
        <p:nvSpPr>
          <p:cNvPr id="30" name="CuadroTexto 29"/>
          <p:cNvSpPr txBox="1"/>
          <p:nvPr/>
        </p:nvSpPr>
        <p:spPr>
          <a:xfrm>
            <a:off x="891026" y="1269613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que </a:t>
            </a:r>
            <a:r>
              <a:rPr lang="es-CL" dirty="0"/>
              <a:t>hacemos</a:t>
            </a:r>
          </a:p>
        </p:txBody>
      </p:sp>
      <p:sp>
        <p:nvSpPr>
          <p:cNvPr id="31" name="CuadroTexto 30"/>
          <p:cNvSpPr txBox="1"/>
          <p:nvPr/>
        </p:nvSpPr>
        <p:spPr>
          <a:xfrm>
            <a:off x="902910" y="2664128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2"/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>
                <a:solidFill>
                  <a:schemeClr val="bg1">
                    <a:lumMod val="95000"/>
                  </a:schemeClr>
                </a:solidFill>
              </a:rPr>
              <a:t>valores</a:t>
            </a:r>
            <a:endParaRPr lang="es-CL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7500634" y="2218393"/>
            <a:ext cx="4556698" cy="1477328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Transformar la energía en desarrollo sostenible, eliminando barreras económicas y tecnológicas para acelerar la transición hacia un futuro más eficiente, colaborativo y sustentable.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cxnSp>
        <p:nvCxnSpPr>
          <p:cNvPr id="32" name="Conector recto 31"/>
          <p:cNvCxnSpPr/>
          <p:nvPr/>
        </p:nvCxnSpPr>
        <p:spPr>
          <a:xfrm>
            <a:off x="7309366" y="2371305"/>
            <a:ext cx="0" cy="940393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cxnSp>
        <p:nvCxnSpPr>
          <p:cNvPr id="6" name="Conector recto 5"/>
          <p:cNvCxnSpPr/>
          <p:nvPr/>
        </p:nvCxnSpPr>
        <p:spPr>
          <a:xfrm flipH="1">
            <a:off x="2768130" y="2371305"/>
            <a:ext cx="4541236" cy="0"/>
          </a:xfrm>
          <a:prstGeom prst="line">
            <a:avLst/>
          </a:prstGeom>
          <a:ln>
            <a:solidFill>
              <a:srgbClr val="00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/>
          <p:cNvSpPr txBox="1"/>
          <p:nvPr/>
        </p:nvSpPr>
        <p:spPr>
          <a:xfrm>
            <a:off x="891026" y="2188346"/>
            <a:ext cx="1865220" cy="369332"/>
          </a:xfrm>
          <a:prstGeom prst="rect">
            <a:avLst/>
          </a:prstGeom>
          <a:solidFill>
            <a:srgbClr val="00FFFF">
              <a:alpha val="7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p</a:t>
            </a:r>
            <a:r>
              <a:rPr lang="es-CL" dirty="0" smtClean="0"/>
              <a:t>ropósito</a:t>
            </a:r>
            <a:endParaRPr lang="es-CL" dirty="0"/>
          </a:p>
        </p:txBody>
      </p:sp>
      <p:sp>
        <p:nvSpPr>
          <p:cNvPr id="34" name="Rectángulo redondeado 33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659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68" y="666740"/>
            <a:ext cx="8668145" cy="5765417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17" name="CuadroTexto 16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información</a:t>
              </a:r>
              <a:endParaRPr lang="es-CL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servicios</a:t>
              </a:r>
              <a:endParaRPr lang="es-CL" dirty="0"/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rgbClr val="00FFFF">
                <a:alpha val="20000"/>
              </a:srgbClr>
            </a:solidFill>
            <a:ln>
              <a:solidFill>
                <a:srgbClr val="00FFFF"/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2"/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calculadora</a:t>
              </a:r>
              <a:endParaRPr lang="es-CL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cotiza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contacto</a:t>
              </a:r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asistencia</a:t>
              </a:r>
              <a:endParaRPr lang="es-CL" dirty="0"/>
            </a:p>
          </p:txBody>
        </p:sp>
      </p:grpSp>
      <p:cxnSp>
        <p:nvCxnSpPr>
          <p:cNvPr id="26" name="Conector recto 25"/>
          <p:cNvCxnSpPr/>
          <p:nvPr/>
        </p:nvCxnSpPr>
        <p:spPr>
          <a:xfrm>
            <a:off x="756356" y="512199"/>
            <a:ext cx="0" cy="2983212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27" name="CuadroTexto 26"/>
          <p:cNvSpPr txBox="1"/>
          <p:nvPr/>
        </p:nvSpPr>
        <p:spPr>
          <a:xfrm>
            <a:off x="902910" y="172724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Visión y misión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895218" y="3126079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2"/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>
                <a:solidFill>
                  <a:schemeClr val="bg1">
                    <a:lumMod val="95000"/>
                  </a:schemeClr>
                </a:solidFill>
              </a:rPr>
              <a:t>ODS</a:t>
            </a:r>
            <a:endParaRPr lang="es-CL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902910" y="79810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EFICIAN</a:t>
            </a:r>
          </a:p>
        </p:txBody>
      </p:sp>
      <p:sp>
        <p:nvSpPr>
          <p:cNvPr id="30" name="CuadroTexto 29"/>
          <p:cNvSpPr txBox="1"/>
          <p:nvPr/>
        </p:nvSpPr>
        <p:spPr>
          <a:xfrm>
            <a:off x="891026" y="1269613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Que hacemos</a:t>
            </a:r>
          </a:p>
        </p:txBody>
      </p:sp>
      <p:sp>
        <p:nvSpPr>
          <p:cNvPr id="31" name="CuadroTexto 30"/>
          <p:cNvSpPr txBox="1"/>
          <p:nvPr/>
        </p:nvSpPr>
        <p:spPr>
          <a:xfrm>
            <a:off x="902910" y="2664128"/>
            <a:ext cx="1865220" cy="369332"/>
          </a:xfrm>
          <a:prstGeom prst="rect">
            <a:avLst/>
          </a:prstGeom>
          <a:solidFill>
            <a:srgbClr val="00FFFF">
              <a:alpha val="7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valores</a:t>
            </a:r>
          </a:p>
        </p:txBody>
      </p:sp>
      <p:cxnSp>
        <p:nvCxnSpPr>
          <p:cNvPr id="6" name="Conector recto 5"/>
          <p:cNvCxnSpPr/>
          <p:nvPr/>
        </p:nvCxnSpPr>
        <p:spPr>
          <a:xfrm flipH="1" flipV="1">
            <a:off x="2768131" y="2867480"/>
            <a:ext cx="4370971" cy="16929"/>
          </a:xfrm>
          <a:prstGeom prst="line">
            <a:avLst/>
          </a:prstGeom>
          <a:ln>
            <a:solidFill>
              <a:srgbClr val="00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/>
          <p:cNvSpPr txBox="1"/>
          <p:nvPr/>
        </p:nvSpPr>
        <p:spPr>
          <a:xfrm>
            <a:off x="891026" y="2188346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Propósito</a:t>
            </a:r>
          </a:p>
        </p:txBody>
      </p:sp>
      <p:sp>
        <p:nvSpPr>
          <p:cNvPr id="42" name="Rectángulo 41"/>
          <p:cNvSpPr/>
          <p:nvPr/>
        </p:nvSpPr>
        <p:spPr>
          <a:xfrm>
            <a:off x="7139102" y="1782125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b="0" i="0" dirty="0" smtClean="0">
                <a:solidFill>
                  <a:srgbClr val="00FFFF"/>
                </a:solidFill>
                <a:effectLst/>
                <a:latin typeface="Candara Light" panose="020E0502030303020204" pitchFamily="34" charset="0"/>
              </a:rPr>
              <a:t>E</a:t>
            </a:r>
            <a:r>
              <a:rPr lang="es-CL" b="0" i="0" dirty="0" smtClean="0">
                <a:solidFill>
                  <a:schemeClr val="bg1">
                    <a:lumMod val="95000"/>
                  </a:schemeClr>
                </a:solidFill>
                <a:effectLst/>
                <a:latin typeface="Candara Light" panose="020E0502030303020204" pitchFamily="34" charset="0"/>
              </a:rPr>
              <a:t>nergía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43" name="Rectángulo 42"/>
          <p:cNvSpPr/>
          <p:nvPr/>
        </p:nvSpPr>
        <p:spPr>
          <a:xfrm>
            <a:off x="7139102" y="2247423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F</a:t>
            </a:r>
            <a:r>
              <a:rPr lang="es-CL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inanciamiento Colaborativo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47" name="Rectángulo 46"/>
          <p:cNvSpPr/>
          <p:nvPr/>
        </p:nvSpPr>
        <p:spPr>
          <a:xfrm>
            <a:off x="7139102" y="2717427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I</a:t>
            </a:r>
            <a:r>
              <a:rPr lang="es-CL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nnovación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48" name="Rectángulo 47"/>
          <p:cNvSpPr/>
          <p:nvPr/>
        </p:nvSpPr>
        <p:spPr>
          <a:xfrm>
            <a:off x="7138508" y="3181810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C</a:t>
            </a:r>
            <a:r>
              <a:rPr lang="es-CL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ooperación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49" name="Rectángulo 48"/>
          <p:cNvSpPr/>
          <p:nvPr/>
        </p:nvSpPr>
        <p:spPr>
          <a:xfrm>
            <a:off x="7139102" y="3651063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I</a:t>
            </a:r>
            <a:r>
              <a:rPr lang="es-CL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ntegración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51" name="Rectángulo 50"/>
          <p:cNvSpPr/>
          <p:nvPr/>
        </p:nvSpPr>
        <p:spPr>
          <a:xfrm>
            <a:off x="7138508" y="4115446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A</a:t>
            </a:r>
            <a:r>
              <a:rPr lang="es-CL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utoconsumo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52" name="Rectángulo 51"/>
          <p:cNvSpPr/>
          <p:nvPr/>
        </p:nvSpPr>
        <p:spPr>
          <a:xfrm>
            <a:off x="7139102" y="4579829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N</a:t>
            </a:r>
            <a:r>
              <a:rPr lang="es-CL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aturaleza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cxnSp>
        <p:nvCxnSpPr>
          <p:cNvPr id="53" name="Conector recto 52"/>
          <p:cNvCxnSpPr/>
          <p:nvPr/>
        </p:nvCxnSpPr>
        <p:spPr>
          <a:xfrm>
            <a:off x="7138508" y="1782125"/>
            <a:ext cx="0" cy="3167036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none"/>
          </a:ln>
        </p:spPr>
      </p:cxnSp>
      <p:sp>
        <p:nvSpPr>
          <p:cNvPr id="56" name="Rectángulo redondeado 55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002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68" y="666740"/>
            <a:ext cx="8668145" cy="5765417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17" name="CuadroTexto 16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información</a:t>
              </a:r>
              <a:endParaRPr lang="es-CL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servicios</a:t>
              </a:r>
              <a:endParaRPr lang="es-CL" dirty="0"/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rgbClr val="00FFFF">
                <a:alpha val="20000"/>
              </a:srgbClr>
            </a:solidFill>
            <a:ln>
              <a:solidFill>
                <a:srgbClr val="00FFFF"/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2"/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calculadora</a:t>
              </a:r>
              <a:endParaRPr lang="es-CL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cotiza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contacto</a:t>
              </a:r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asistencia</a:t>
              </a:r>
              <a:endParaRPr lang="es-CL" dirty="0"/>
            </a:p>
          </p:txBody>
        </p:sp>
      </p:grpSp>
      <p:cxnSp>
        <p:nvCxnSpPr>
          <p:cNvPr id="26" name="Conector recto 25"/>
          <p:cNvCxnSpPr/>
          <p:nvPr/>
        </p:nvCxnSpPr>
        <p:spPr>
          <a:xfrm>
            <a:off x="756356" y="512199"/>
            <a:ext cx="0" cy="2983212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27" name="CuadroTexto 26"/>
          <p:cNvSpPr txBox="1"/>
          <p:nvPr/>
        </p:nvSpPr>
        <p:spPr>
          <a:xfrm>
            <a:off x="902910" y="172724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Visión y misión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895218" y="3126079"/>
            <a:ext cx="1865220" cy="369332"/>
          </a:xfrm>
          <a:prstGeom prst="rect">
            <a:avLst/>
          </a:prstGeom>
          <a:solidFill>
            <a:srgbClr val="00FFFF">
              <a:alpha val="7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ODS</a:t>
            </a:r>
          </a:p>
        </p:txBody>
      </p:sp>
      <p:sp>
        <p:nvSpPr>
          <p:cNvPr id="29" name="CuadroTexto 28"/>
          <p:cNvSpPr txBox="1"/>
          <p:nvPr/>
        </p:nvSpPr>
        <p:spPr>
          <a:xfrm>
            <a:off x="902910" y="79810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EFICIAN</a:t>
            </a:r>
          </a:p>
        </p:txBody>
      </p:sp>
      <p:sp>
        <p:nvSpPr>
          <p:cNvPr id="30" name="CuadroTexto 29"/>
          <p:cNvSpPr txBox="1"/>
          <p:nvPr/>
        </p:nvSpPr>
        <p:spPr>
          <a:xfrm>
            <a:off x="891026" y="1269613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Que hacemos</a:t>
            </a:r>
          </a:p>
        </p:txBody>
      </p:sp>
      <p:sp>
        <p:nvSpPr>
          <p:cNvPr id="31" name="CuadroTexto 30"/>
          <p:cNvSpPr txBox="1"/>
          <p:nvPr/>
        </p:nvSpPr>
        <p:spPr>
          <a:xfrm>
            <a:off x="902910" y="2664128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valores</a:t>
            </a:r>
          </a:p>
        </p:txBody>
      </p:sp>
      <p:cxnSp>
        <p:nvCxnSpPr>
          <p:cNvPr id="6" name="Conector recto 5"/>
          <p:cNvCxnSpPr/>
          <p:nvPr/>
        </p:nvCxnSpPr>
        <p:spPr>
          <a:xfrm flipH="1">
            <a:off x="2768131" y="3319575"/>
            <a:ext cx="4370971" cy="0"/>
          </a:xfrm>
          <a:prstGeom prst="line">
            <a:avLst/>
          </a:prstGeom>
          <a:ln>
            <a:solidFill>
              <a:srgbClr val="00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/>
          <p:cNvSpPr txBox="1"/>
          <p:nvPr/>
        </p:nvSpPr>
        <p:spPr>
          <a:xfrm>
            <a:off x="891026" y="2188346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Propósito</a:t>
            </a:r>
          </a:p>
        </p:txBody>
      </p:sp>
      <p:sp>
        <p:nvSpPr>
          <p:cNvPr id="34" name="Rectángulo 33"/>
          <p:cNvSpPr/>
          <p:nvPr/>
        </p:nvSpPr>
        <p:spPr>
          <a:xfrm>
            <a:off x="7139102" y="2223692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b="0" i="0" dirty="0" smtClean="0">
                <a:solidFill>
                  <a:schemeClr val="bg1">
                    <a:lumMod val="95000"/>
                  </a:schemeClr>
                </a:solidFill>
                <a:effectLst/>
                <a:latin typeface="Candara Light" panose="020E0502030303020204" pitchFamily="34" charset="0"/>
              </a:rPr>
              <a:t>Energía accesible y no contaminante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42" name="Rectángulo 41"/>
          <p:cNvSpPr/>
          <p:nvPr/>
        </p:nvSpPr>
        <p:spPr>
          <a:xfrm>
            <a:off x="7139102" y="2688990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Trabajo decente y crecimiento económico</a:t>
            </a:r>
          </a:p>
        </p:txBody>
      </p:sp>
      <p:sp>
        <p:nvSpPr>
          <p:cNvPr id="43" name="Rectángulo 42"/>
          <p:cNvSpPr/>
          <p:nvPr/>
        </p:nvSpPr>
        <p:spPr>
          <a:xfrm>
            <a:off x="7139102" y="3152262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Industria, Innovación e infraestructura</a:t>
            </a:r>
          </a:p>
        </p:txBody>
      </p:sp>
      <p:sp>
        <p:nvSpPr>
          <p:cNvPr id="44" name="Rectángulo 43"/>
          <p:cNvSpPr/>
          <p:nvPr/>
        </p:nvSpPr>
        <p:spPr>
          <a:xfrm>
            <a:off x="7149834" y="3605492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Ciudades y comunidades sostenibles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7149834" y="4041941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Alianza para lograr los Objetivos</a:t>
            </a:r>
          </a:p>
        </p:txBody>
      </p:sp>
      <p:cxnSp>
        <p:nvCxnSpPr>
          <p:cNvPr id="32" name="Conector recto 31"/>
          <p:cNvCxnSpPr/>
          <p:nvPr/>
        </p:nvCxnSpPr>
        <p:spPr>
          <a:xfrm>
            <a:off x="7127813" y="2229669"/>
            <a:ext cx="22021" cy="2147737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none"/>
          </a:ln>
        </p:spPr>
      </p:cxnSp>
      <p:sp>
        <p:nvSpPr>
          <p:cNvPr id="46" name="Rectángulo redondeado 45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012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392"/>
          <a:stretch/>
        </p:blipFill>
        <p:spPr>
          <a:xfrm>
            <a:off x="211969" y="666740"/>
            <a:ext cx="8668144" cy="5745349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17" name="CuadroTexto 16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información</a:t>
              </a:r>
              <a:endParaRPr lang="es-CL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rgbClr val="00FFFF">
                <a:alpha val="20000"/>
              </a:srgbClr>
            </a:solidFill>
            <a:ln>
              <a:solidFill>
                <a:srgbClr val="00FFFF"/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2"/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servicios</a:t>
              </a:r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calculadora</a:t>
              </a:r>
              <a:endParaRPr lang="es-CL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cotiza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contacto</a:t>
              </a:r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asistencia</a:t>
              </a:r>
              <a:endParaRPr lang="es-CL" dirty="0"/>
            </a:p>
          </p:txBody>
        </p:sp>
      </p:grpSp>
      <p:cxnSp>
        <p:nvCxnSpPr>
          <p:cNvPr id="26" name="Conector recto 25"/>
          <p:cNvCxnSpPr/>
          <p:nvPr/>
        </p:nvCxnSpPr>
        <p:spPr>
          <a:xfrm>
            <a:off x="2296170" y="512199"/>
            <a:ext cx="0" cy="1711493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34" name="Rectángulo redondeado 33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96281" y="172724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Ingeniería</a:t>
            </a:r>
          </a:p>
        </p:txBody>
      </p:sp>
      <p:sp>
        <p:nvSpPr>
          <p:cNvPr id="51" name="CuadroTexto 50"/>
          <p:cNvSpPr txBox="1"/>
          <p:nvPr/>
        </p:nvSpPr>
        <p:spPr>
          <a:xfrm>
            <a:off x="288589" y="3126079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Proyectos</a:t>
            </a:r>
          </a:p>
        </p:txBody>
      </p:sp>
      <p:sp>
        <p:nvSpPr>
          <p:cNvPr id="52" name="CuadroTexto 51"/>
          <p:cNvSpPr txBox="1"/>
          <p:nvPr/>
        </p:nvSpPr>
        <p:spPr>
          <a:xfrm>
            <a:off x="296281" y="798105"/>
            <a:ext cx="1865220" cy="369332"/>
          </a:xfrm>
          <a:prstGeom prst="rect">
            <a:avLst/>
          </a:prstGeom>
          <a:solidFill>
            <a:srgbClr val="00FFFF">
              <a:alpha val="7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Diagnostico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284397" y="1269613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Diseño</a:t>
            </a:r>
            <a:endParaRPr lang="es-CL" dirty="0"/>
          </a:p>
        </p:txBody>
      </p:sp>
      <p:sp>
        <p:nvSpPr>
          <p:cNvPr id="54" name="CuadroTexto 53"/>
          <p:cNvSpPr txBox="1"/>
          <p:nvPr/>
        </p:nvSpPr>
        <p:spPr>
          <a:xfrm>
            <a:off x="296281" y="2664128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Operación</a:t>
            </a:r>
            <a:endParaRPr lang="es-CL" dirty="0"/>
          </a:p>
        </p:txBody>
      </p:sp>
      <p:sp>
        <p:nvSpPr>
          <p:cNvPr id="55" name="CuadroTexto 54"/>
          <p:cNvSpPr txBox="1"/>
          <p:nvPr/>
        </p:nvSpPr>
        <p:spPr>
          <a:xfrm>
            <a:off x="284397" y="2188346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Ejecución</a:t>
            </a:r>
            <a:endParaRPr lang="es-CL" dirty="0"/>
          </a:p>
        </p:txBody>
      </p:sp>
      <p:sp>
        <p:nvSpPr>
          <p:cNvPr id="28" name="Rectángulo 27"/>
          <p:cNvSpPr/>
          <p:nvPr/>
        </p:nvSpPr>
        <p:spPr>
          <a:xfrm>
            <a:off x="7139102" y="2096259"/>
            <a:ext cx="5052898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rgbClr val="00FFFF"/>
                </a:solidFill>
                <a:latin typeface="Candara Light" panose="020E0502030303020204" pitchFamily="34" charset="0"/>
              </a:rPr>
              <a:t>Diagnostico energético</a:t>
            </a:r>
          </a:p>
        </p:txBody>
      </p:sp>
      <p:sp>
        <p:nvSpPr>
          <p:cNvPr id="36" name="Rectángulo 35"/>
          <p:cNvSpPr/>
          <p:nvPr/>
        </p:nvSpPr>
        <p:spPr>
          <a:xfrm>
            <a:off x="7139102" y="2559531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Calculo del potencial de generación FV</a:t>
            </a:r>
          </a:p>
        </p:txBody>
      </p:sp>
      <p:sp>
        <p:nvSpPr>
          <p:cNvPr id="37" name="Rectángulo 36"/>
          <p:cNvSpPr/>
          <p:nvPr/>
        </p:nvSpPr>
        <p:spPr>
          <a:xfrm>
            <a:off x="7139102" y="3022803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Estudio tarifario</a:t>
            </a:r>
          </a:p>
        </p:txBody>
      </p:sp>
      <p:sp>
        <p:nvSpPr>
          <p:cNvPr id="38" name="Rectángulo 37"/>
          <p:cNvSpPr/>
          <p:nvPr/>
        </p:nvSpPr>
        <p:spPr>
          <a:xfrm>
            <a:off x="7139102" y="3488101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Evaluación de envolvente térmico</a:t>
            </a:r>
          </a:p>
        </p:txBody>
      </p:sp>
      <p:sp>
        <p:nvSpPr>
          <p:cNvPr id="39" name="Rectángulo 38"/>
          <p:cNvSpPr/>
          <p:nvPr/>
        </p:nvSpPr>
        <p:spPr>
          <a:xfrm>
            <a:off x="7128370" y="3953340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Potencial de eficiencia energético</a:t>
            </a:r>
          </a:p>
        </p:txBody>
      </p:sp>
    </p:spTree>
    <p:extLst>
      <p:ext uri="{BB962C8B-B14F-4D97-AF65-F5344CB8AC3E}">
        <p14:creationId xmlns:p14="http://schemas.microsoft.com/office/powerpoint/2010/main" val="122773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392"/>
          <a:stretch/>
        </p:blipFill>
        <p:spPr>
          <a:xfrm>
            <a:off x="211969" y="666740"/>
            <a:ext cx="8668144" cy="5745349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17" name="CuadroTexto 16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información</a:t>
              </a:r>
              <a:endParaRPr lang="es-CL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rgbClr val="00FFFF">
                <a:alpha val="20000"/>
              </a:srgbClr>
            </a:solidFill>
            <a:ln>
              <a:solidFill>
                <a:srgbClr val="00FFFF"/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2"/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servicios</a:t>
              </a:r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calculadora</a:t>
              </a:r>
              <a:endParaRPr lang="es-CL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cotiza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contacto</a:t>
              </a:r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asistencia</a:t>
              </a:r>
              <a:endParaRPr lang="es-CL" dirty="0"/>
            </a:p>
          </p:txBody>
        </p:sp>
      </p:grpSp>
      <p:cxnSp>
        <p:nvCxnSpPr>
          <p:cNvPr id="26" name="Conector recto 25"/>
          <p:cNvCxnSpPr/>
          <p:nvPr/>
        </p:nvCxnSpPr>
        <p:spPr>
          <a:xfrm>
            <a:off x="2296170" y="512199"/>
            <a:ext cx="0" cy="1711493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34" name="Rectángulo redondeado 33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96281" y="172724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Ingeniería</a:t>
            </a:r>
          </a:p>
        </p:txBody>
      </p:sp>
      <p:sp>
        <p:nvSpPr>
          <p:cNvPr id="51" name="CuadroTexto 50"/>
          <p:cNvSpPr txBox="1"/>
          <p:nvPr/>
        </p:nvSpPr>
        <p:spPr>
          <a:xfrm>
            <a:off x="288589" y="3126079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Proyectos</a:t>
            </a:r>
          </a:p>
        </p:txBody>
      </p:sp>
      <p:sp>
        <p:nvSpPr>
          <p:cNvPr id="52" name="CuadroTexto 51"/>
          <p:cNvSpPr txBox="1"/>
          <p:nvPr/>
        </p:nvSpPr>
        <p:spPr>
          <a:xfrm>
            <a:off x="296281" y="798105"/>
            <a:ext cx="1865220" cy="369332"/>
          </a:xfrm>
          <a:prstGeom prst="rect">
            <a:avLst/>
          </a:prstGeom>
          <a:solidFill>
            <a:srgbClr val="00FFFF">
              <a:alpha val="7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Diagnostico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284397" y="1269613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Diseño</a:t>
            </a:r>
            <a:endParaRPr lang="es-CL" dirty="0"/>
          </a:p>
        </p:txBody>
      </p:sp>
      <p:sp>
        <p:nvSpPr>
          <p:cNvPr id="54" name="CuadroTexto 53"/>
          <p:cNvSpPr txBox="1"/>
          <p:nvPr/>
        </p:nvSpPr>
        <p:spPr>
          <a:xfrm>
            <a:off x="296281" y="2664128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Operación</a:t>
            </a:r>
            <a:endParaRPr lang="es-CL" dirty="0"/>
          </a:p>
        </p:txBody>
      </p:sp>
      <p:sp>
        <p:nvSpPr>
          <p:cNvPr id="55" name="CuadroTexto 54"/>
          <p:cNvSpPr txBox="1"/>
          <p:nvPr/>
        </p:nvSpPr>
        <p:spPr>
          <a:xfrm>
            <a:off x="284397" y="2188346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Ejecución</a:t>
            </a:r>
            <a:endParaRPr lang="es-CL" dirty="0"/>
          </a:p>
        </p:txBody>
      </p:sp>
      <p:sp>
        <p:nvSpPr>
          <p:cNvPr id="49" name="Rectángulo 48"/>
          <p:cNvSpPr/>
          <p:nvPr/>
        </p:nvSpPr>
        <p:spPr>
          <a:xfrm>
            <a:off x="7139102" y="2096259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Diagnostico energético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7139102" y="2559531"/>
            <a:ext cx="5052898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rgbClr val="00FFFF"/>
                </a:solidFill>
                <a:latin typeface="Candara Light" panose="020E0502030303020204" pitchFamily="34" charset="0"/>
              </a:rPr>
              <a:t>Calculo del potencial de generación FV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7139102" y="3022803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Estudio tarifario</a:t>
            </a:r>
          </a:p>
        </p:txBody>
      </p:sp>
      <p:sp>
        <p:nvSpPr>
          <p:cNvPr id="58" name="Rectángulo 57"/>
          <p:cNvSpPr/>
          <p:nvPr/>
        </p:nvSpPr>
        <p:spPr>
          <a:xfrm>
            <a:off x="7139102" y="3488101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Evaluación de envolvente térmico</a:t>
            </a:r>
          </a:p>
        </p:txBody>
      </p:sp>
      <p:sp>
        <p:nvSpPr>
          <p:cNvPr id="59" name="Rectángulo 58"/>
          <p:cNvSpPr/>
          <p:nvPr/>
        </p:nvSpPr>
        <p:spPr>
          <a:xfrm>
            <a:off x="7128370" y="3953340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Potencial de eficiencia energético</a:t>
            </a:r>
          </a:p>
        </p:txBody>
      </p:sp>
    </p:spTree>
    <p:extLst>
      <p:ext uri="{BB962C8B-B14F-4D97-AF65-F5344CB8AC3E}">
        <p14:creationId xmlns:p14="http://schemas.microsoft.com/office/powerpoint/2010/main" val="368980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392"/>
          <a:stretch/>
        </p:blipFill>
        <p:spPr>
          <a:xfrm>
            <a:off x="211969" y="666740"/>
            <a:ext cx="8668144" cy="5745349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17" name="CuadroTexto 16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información</a:t>
              </a:r>
              <a:endParaRPr lang="es-CL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rgbClr val="00FFFF">
                <a:alpha val="20000"/>
              </a:srgbClr>
            </a:solidFill>
            <a:ln>
              <a:solidFill>
                <a:srgbClr val="00FFFF"/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2"/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servicios</a:t>
              </a:r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calculadora</a:t>
              </a:r>
              <a:endParaRPr lang="es-CL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cotiza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contacto</a:t>
              </a:r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asistencia</a:t>
              </a:r>
              <a:endParaRPr lang="es-CL" dirty="0"/>
            </a:p>
          </p:txBody>
        </p:sp>
      </p:grpSp>
      <p:cxnSp>
        <p:nvCxnSpPr>
          <p:cNvPr id="26" name="Conector recto 25"/>
          <p:cNvCxnSpPr/>
          <p:nvPr/>
        </p:nvCxnSpPr>
        <p:spPr>
          <a:xfrm>
            <a:off x="2296170" y="512199"/>
            <a:ext cx="0" cy="1711493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34" name="Rectángulo redondeado 33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96281" y="172724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Ingeniería</a:t>
            </a:r>
          </a:p>
        </p:txBody>
      </p:sp>
      <p:sp>
        <p:nvSpPr>
          <p:cNvPr id="51" name="CuadroTexto 50"/>
          <p:cNvSpPr txBox="1"/>
          <p:nvPr/>
        </p:nvSpPr>
        <p:spPr>
          <a:xfrm>
            <a:off x="288589" y="3126079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Proyectos</a:t>
            </a:r>
          </a:p>
        </p:txBody>
      </p:sp>
      <p:sp>
        <p:nvSpPr>
          <p:cNvPr id="52" name="CuadroTexto 51"/>
          <p:cNvSpPr txBox="1"/>
          <p:nvPr/>
        </p:nvSpPr>
        <p:spPr>
          <a:xfrm>
            <a:off x="296281" y="798105"/>
            <a:ext cx="1865220" cy="369332"/>
          </a:xfrm>
          <a:prstGeom prst="rect">
            <a:avLst/>
          </a:prstGeom>
          <a:solidFill>
            <a:srgbClr val="00FFFF">
              <a:alpha val="7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Diagnostico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284397" y="1269613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Diseño</a:t>
            </a:r>
            <a:endParaRPr lang="es-CL" dirty="0"/>
          </a:p>
        </p:txBody>
      </p:sp>
      <p:sp>
        <p:nvSpPr>
          <p:cNvPr id="54" name="CuadroTexto 53"/>
          <p:cNvSpPr txBox="1"/>
          <p:nvPr/>
        </p:nvSpPr>
        <p:spPr>
          <a:xfrm>
            <a:off x="296281" y="2664128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Operación</a:t>
            </a:r>
            <a:endParaRPr lang="es-CL" dirty="0"/>
          </a:p>
        </p:txBody>
      </p:sp>
      <p:sp>
        <p:nvSpPr>
          <p:cNvPr id="55" name="CuadroTexto 54"/>
          <p:cNvSpPr txBox="1"/>
          <p:nvPr/>
        </p:nvSpPr>
        <p:spPr>
          <a:xfrm>
            <a:off x="284397" y="2188346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Ejecución</a:t>
            </a:r>
            <a:endParaRPr lang="es-CL" dirty="0"/>
          </a:p>
        </p:txBody>
      </p:sp>
      <p:sp>
        <p:nvSpPr>
          <p:cNvPr id="45" name="Rectángulo 44"/>
          <p:cNvSpPr/>
          <p:nvPr/>
        </p:nvSpPr>
        <p:spPr>
          <a:xfrm>
            <a:off x="7139102" y="2096259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Diagnostico energético</a:t>
            </a:r>
          </a:p>
        </p:txBody>
      </p:sp>
      <p:sp>
        <p:nvSpPr>
          <p:cNvPr id="46" name="Rectángulo 45"/>
          <p:cNvSpPr/>
          <p:nvPr/>
        </p:nvSpPr>
        <p:spPr>
          <a:xfrm>
            <a:off x="7139102" y="2559531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Calculo del potencial de generación FV</a:t>
            </a:r>
            <a:endParaRPr lang="es-CL" sz="1900" dirty="0">
              <a:solidFill>
                <a:schemeClr val="tx1">
                  <a:lumMod val="50000"/>
                  <a:lumOff val="50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47" name="Rectángulo 46"/>
          <p:cNvSpPr/>
          <p:nvPr/>
        </p:nvSpPr>
        <p:spPr>
          <a:xfrm>
            <a:off x="7139102" y="3022803"/>
            <a:ext cx="5052898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rgbClr val="00FFFF"/>
                </a:solidFill>
                <a:latin typeface="Candara Light" panose="020E0502030303020204" pitchFamily="34" charset="0"/>
              </a:rPr>
              <a:t>Estudio tarifario</a:t>
            </a:r>
          </a:p>
        </p:txBody>
      </p:sp>
      <p:sp>
        <p:nvSpPr>
          <p:cNvPr id="48" name="Rectángulo 47"/>
          <p:cNvSpPr/>
          <p:nvPr/>
        </p:nvSpPr>
        <p:spPr>
          <a:xfrm>
            <a:off x="7139102" y="3488101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Evaluación de envolvente térmico</a:t>
            </a:r>
          </a:p>
        </p:txBody>
      </p:sp>
      <p:sp>
        <p:nvSpPr>
          <p:cNvPr id="49" name="Rectángulo 48"/>
          <p:cNvSpPr/>
          <p:nvPr/>
        </p:nvSpPr>
        <p:spPr>
          <a:xfrm>
            <a:off x="7128370" y="3953340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Potencial de eficiencia energético</a:t>
            </a:r>
          </a:p>
        </p:txBody>
      </p:sp>
    </p:spTree>
    <p:extLst>
      <p:ext uri="{BB962C8B-B14F-4D97-AF65-F5344CB8AC3E}">
        <p14:creationId xmlns:p14="http://schemas.microsoft.com/office/powerpoint/2010/main" val="787363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392"/>
          <a:stretch/>
        </p:blipFill>
        <p:spPr>
          <a:xfrm>
            <a:off x="211969" y="666740"/>
            <a:ext cx="8668144" cy="5745349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17" name="CuadroTexto 16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información</a:t>
              </a:r>
              <a:endParaRPr lang="es-CL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rgbClr val="00FFFF">
                <a:alpha val="20000"/>
              </a:srgbClr>
            </a:solidFill>
            <a:ln>
              <a:solidFill>
                <a:srgbClr val="00FFFF"/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2"/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servicios</a:t>
              </a:r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calculadora</a:t>
              </a:r>
              <a:endParaRPr lang="es-CL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cotiza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contacto</a:t>
              </a:r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asistencia</a:t>
              </a:r>
              <a:endParaRPr lang="es-CL" dirty="0"/>
            </a:p>
          </p:txBody>
        </p:sp>
      </p:grpSp>
      <p:cxnSp>
        <p:nvCxnSpPr>
          <p:cNvPr id="26" name="Conector recto 25"/>
          <p:cNvCxnSpPr/>
          <p:nvPr/>
        </p:nvCxnSpPr>
        <p:spPr>
          <a:xfrm>
            <a:off x="2296170" y="512199"/>
            <a:ext cx="0" cy="1711493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34" name="Rectángulo redondeado 33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96281" y="172724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Ingeniería</a:t>
            </a:r>
          </a:p>
        </p:txBody>
      </p:sp>
      <p:sp>
        <p:nvSpPr>
          <p:cNvPr id="51" name="CuadroTexto 50"/>
          <p:cNvSpPr txBox="1"/>
          <p:nvPr/>
        </p:nvSpPr>
        <p:spPr>
          <a:xfrm>
            <a:off x="288589" y="3126079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Proyectos</a:t>
            </a:r>
          </a:p>
        </p:txBody>
      </p:sp>
      <p:sp>
        <p:nvSpPr>
          <p:cNvPr id="52" name="CuadroTexto 51"/>
          <p:cNvSpPr txBox="1"/>
          <p:nvPr/>
        </p:nvSpPr>
        <p:spPr>
          <a:xfrm>
            <a:off x="296281" y="798105"/>
            <a:ext cx="1865220" cy="369332"/>
          </a:xfrm>
          <a:prstGeom prst="rect">
            <a:avLst/>
          </a:prstGeom>
          <a:solidFill>
            <a:srgbClr val="00FFFF">
              <a:alpha val="7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Diagnostico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284397" y="1269613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Diseño</a:t>
            </a:r>
            <a:endParaRPr lang="es-CL" dirty="0"/>
          </a:p>
        </p:txBody>
      </p:sp>
      <p:sp>
        <p:nvSpPr>
          <p:cNvPr id="54" name="CuadroTexto 53"/>
          <p:cNvSpPr txBox="1"/>
          <p:nvPr/>
        </p:nvSpPr>
        <p:spPr>
          <a:xfrm>
            <a:off x="296281" y="2664128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Operación</a:t>
            </a:r>
            <a:endParaRPr lang="es-CL" dirty="0"/>
          </a:p>
        </p:txBody>
      </p:sp>
      <p:sp>
        <p:nvSpPr>
          <p:cNvPr id="55" name="CuadroTexto 54"/>
          <p:cNvSpPr txBox="1"/>
          <p:nvPr/>
        </p:nvSpPr>
        <p:spPr>
          <a:xfrm>
            <a:off x="284397" y="2188346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Ejecución</a:t>
            </a:r>
            <a:endParaRPr lang="es-CL" dirty="0"/>
          </a:p>
        </p:txBody>
      </p:sp>
      <p:sp>
        <p:nvSpPr>
          <p:cNvPr id="45" name="Rectángulo 44"/>
          <p:cNvSpPr/>
          <p:nvPr/>
        </p:nvSpPr>
        <p:spPr>
          <a:xfrm>
            <a:off x="7139102" y="2096259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Diagnostico energético</a:t>
            </a:r>
          </a:p>
        </p:txBody>
      </p:sp>
      <p:sp>
        <p:nvSpPr>
          <p:cNvPr id="46" name="Rectángulo 45"/>
          <p:cNvSpPr/>
          <p:nvPr/>
        </p:nvSpPr>
        <p:spPr>
          <a:xfrm>
            <a:off x="7139102" y="2559531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Calculo del potencial de generación FV</a:t>
            </a:r>
            <a:endParaRPr lang="es-CL" sz="1900" dirty="0">
              <a:solidFill>
                <a:schemeClr val="tx1">
                  <a:lumMod val="50000"/>
                  <a:lumOff val="50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47" name="Rectángulo 46"/>
          <p:cNvSpPr/>
          <p:nvPr/>
        </p:nvSpPr>
        <p:spPr>
          <a:xfrm>
            <a:off x="7139102" y="3022803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Estudio </a:t>
            </a:r>
            <a:r>
              <a:rPr lang="es-CL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tarifario</a:t>
            </a:r>
            <a:endParaRPr lang="es-CL" dirty="0">
              <a:solidFill>
                <a:schemeClr val="tx1">
                  <a:lumMod val="50000"/>
                  <a:lumOff val="50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48" name="Rectángulo 47"/>
          <p:cNvSpPr/>
          <p:nvPr/>
        </p:nvSpPr>
        <p:spPr>
          <a:xfrm>
            <a:off x="7139102" y="3488101"/>
            <a:ext cx="5052898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rgbClr val="00FFFF"/>
                </a:solidFill>
                <a:latin typeface="Candara Light" panose="020E0502030303020204" pitchFamily="34" charset="0"/>
              </a:rPr>
              <a:t>Evaluación de envolvente térmico</a:t>
            </a:r>
          </a:p>
        </p:txBody>
      </p:sp>
      <p:sp>
        <p:nvSpPr>
          <p:cNvPr id="49" name="Rectángulo 48"/>
          <p:cNvSpPr/>
          <p:nvPr/>
        </p:nvSpPr>
        <p:spPr>
          <a:xfrm>
            <a:off x="7128370" y="3953340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Potencial de eficiencia energético</a:t>
            </a:r>
          </a:p>
        </p:txBody>
      </p:sp>
    </p:spTree>
    <p:extLst>
      <p:ext uri="{BB962C8B-B14F-4D97-AF65-F5344CB8AC3E}">
        <p14:creationId xmlns:p14="http://schemas.microsoft.com/office/powerpoint/2010/main" val="421791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392"/>
          <a:stretch/>
        </p:blipFill>
        <p:spPr>
          <a:xfrm>
            <a:off x="211969" y="666740"/>
            <a:ext cx="8668144" cy="5745349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17" name="CuadroTexto 16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información</a:t>
              </a:r>
              <a:endParaRPr lang="es-CL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rgbClr val="00FFFF">
                <a:alpha val="20000"/>
              </a:srgbClr>
            </a:solidFill>
            <a:ln>
              <a:solidFill>
                <a:srgbClr val="00FFFF"/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2"/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servicios</a:t>
              </a:r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calculadora</a:t>
              </a:r>
              <a:endParaRPr lang="es-CL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cotiza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contacto</a:t>
              </a:r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asistencia</a:t>
              </a:r>
              <a:endParaRPr lang="es-CL" dirty="0"/>
            </a:p>
          </p:txBody>
        </p:sp>
      </p:grpSp>
      <p:cxnSp>
        <p:nvCxnSpPr>
          <p:cNvPr id="26" name="Conector recto 25"/>
          <p:cNvCxnSpPr/>
          <p:nvPr/>
        </p:nvCxnSpPr>
        <p:spPr>
          <a:xfrm>
            <a:off x="2296170" y="512199"/>
            <a:ext cx="0" cy="1711493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34" name="Rectángulo redondeado 33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96281" y="172724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Ingeniería</a:t>
            </a:r>
          </a:p>
        </p:txBody>
      </p:sp>
      <p:sp>
        <p:nvSpPr>
          <p:cNvPr id="51" name="CuadroTexto 50"/>
          <p:cNvSpPr txBox="1"/>
          <p:nvPr/>
        </p:nvSpPr>
        <p:spPr>
          <a:xfrm>
            <a:off x="288589" y="3126079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Proyectos</a:t>
            </a:r>
          </a:p>
        </p:txBody>
      </p:sp>
      <p:sp>
        <p:nvSpPr>
          <p:cNvPr id="52" name="CuadroTexto 51"/>
          <p:cNvSpPr txBox="1"/>
          <p:nvPr/>
        </p:nvSpPr>
        <p:spPr>
          <a:xfrm>
            <a:off x="296281" y="798105"/>
            <a:ext cx="1865220" cy="369332"/>
          </a:xfrm>
          <a:prstGeom prst="rect">
            <a:avLst/>
          </a:prstGeom>
          <a:solidFill>
            <a:srgbClr val="00FFFF">
              <a:alpha val="7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Diagnostico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284397" y="1269613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Diseño</a:t>
            </a:r>
            <a:endParaRPr lang="es-CL" dirty="0"/>
          </a:p>
        </p:txBody>
      </p:sp>
      <p:sp>
        <p:nvSpPr>
          <p:cNvPr id="54" name="CuadroTexto 53"/>
          <p:cNvSpPr txBox="1"/>
          <p:nvPr/>
        </p:nvSpPr>
        <p:spPr>
          <a:xfrm>
            <a:off x="296281" y="2664128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Operación</a:t>
            </a:r>
            <a:endParaRPr lang="es-CL" dirty="0"/>
          </a:p>
        </p:txBody>
      </p:sp>
      <p:sp>
        <p:nvSpPr>
          <p:cNvPr id="55" name="CuadroTexto 54"/>
          <p:cNvSpPr txBox="1"/>
          <p:nvPr/>
        </p:nvSpPr>
        <p:spPr>
          <a:xfrm>
            <a:off x="284397" y="2188346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Ejecución</a:t>
            </a:r>
            <a:endParaRPr lang="es-CL" dirty="0"/>
          </a:p>
        </p:txBody>
      </p:sp>
      <p:sp>
        <p:nvSpPr>
          <p:cNvPr id="40" name="Rectángulo 39"/>
          <p:cNvSpPr/>
          <p:nvPr/>
        </p:nvSpPr>
        <p:spPr>
          <a:xfrm>
            <a:off x="7139102" y="2096259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Diagnostico energético</a:t>
            </a:r>
          </a:p>
        </p:txBody>
      </p:sp>
      <p:sp>
        <p:nvSpPr>
          <p:cNvPr id="41" name="Rectángulo 40"/>
          <p:cNvSpPr/>
          <p:nvPr/>
        </p:nvSpPr>
        <p:spPr>
          <a:xfrm>
            <a:off x="7139102" y="2559531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Calculo del potencial de generación FV</a:t>
            </a:r>
            <a:endParaRPr lang="es-CL" sz="1900" dirty="0">
              <a:solidFill>
                <a:schemeClr val="tx1">
                  <a:lumMod val="50000"/>
                  <a:lumOff val="50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42" name="Rectángulo 41"/>
          <p:cNvSpPr/>
          <p:nvPr/>
        </p:nvSpPr>
        <p:spPr>
          <a:xfrm>
            <a:off x="7139102" y="3022803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Estudio </a:t>
            </a:r>
            <a:r>
              <a:rPr lang="es-CL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tarifario</a:t>
            </a:r>
            <a:endParaRPr lang="es-CL" dirty="0">
              <a:solidFill>
                <a:schemeClr val="tx1">
                  <a:lumMod val="50000"/>
                  <a:lumOff val="50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43" name="Rectángulo 42"/>
          <p:cNvSpPr/>
          <p:nvPr/>
        </p:nvSpPr>
        <p:spPr>
          <a:xfrm>
            <a:off x="7139102" y="3488101"/>
            <a:ext cx="5052898" cy="369332"/>
          </a:xfrm>
          <a:prstGeom prst="rect">
            <a:avLst/>
          </a:prstGeom>
          <a:solidFill>
            <a:schemeClr val="bg2">
              <a:lumMod val="50000"/>
              <a:alpha val="35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Evaluación de </a:t>
            </a:r>
            <a:r>
              <a:rPr lang="es-CL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envolvente </a:t>
            </a:r>
            <a:r>
              <a:rPr lang="es-CL" dirty="0">
                <a:solidFill>
                  <a:schemeClr val="tx1">
                    <a:lumMod val="50000"/>
                    <a:lumOff val="50000"/>
                  </a:schemeClr>
                </a:solidFill>
                <a:latin typeface="Candara Light" panose="020E0502030303020204" pitchFamily="34" charset="0"/>
              </a:rPr>
              <a:t>térmico</a:t>
            </a:r>
          </a:p>
        </p:txBody>
      </p:sp>
      <p:sp>
        <p:nvSpPr>
          <p:cNvPr id="44" name="Rectángulo 43"/>
          <p:cNvSpPr/>
          <p:nvPr/>
        </p:nvSpPr>
        <p:spPr>
          <a:xfrm>
            <a:off x="7128370" y="3953340"/>
            <a:ext cx="5052898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>
                <a:solidFill>
                  <a:srgbClr val="00FFFF"/>
                </a:solidFill>
                <a:latin typeface="Candara Light" panose="020E0502030303020204" pitchFamily="34" charset="0"/>
              </a:rPr>
              <a:t>Potencial de eficiencia energético</a:t>
            </a:r>
          </a:p>
        </p:txBody>
      </p:sp>
    </p:spTree>
    <p:extLst>
      <p:ext uri="{BB962C8B-B14F-4D97-AF65-F5344CB8AC3E}">
        <p14:creationId xmlns:p14="http://schemas.microsoft.com/office/powerpoint/2010/main" val="228906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392"/>
          <a:stretch/>
        </p:blipFill>
        <p:spPr>
          <a:xfrm>
            <a:off x="211969" y="666740"/>
            <a:ext cx="8668144" cy="5745349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17" name="CuadroTexto 16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información</a:t>
              </a:r>
              <a:endParaRPr lang="es-CL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rgbClr val="00FFFF">
                <a:alpha val="20000"/>
              </a:srgbClr>
            </a:solidFill>
            <a:ln>
              <a:solidFill>
                <a:srgbClr val="00FFFF"/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2"/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servicios</a:t>
              </a:r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calculadora</a:t>
              </a:r>
              <a:endParaRPr lang="es-CL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cotiza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contacto</a:t>
              </a:r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asistencia</a:t>
              </a:r>
              <a:endParaRPr lang="es-CL" dirty="0"/>
            </a:p>
          </p:txBody>
        </p:sp>
      </p:grpSp>
      <p:cxnSp>
        <p:nvCxnSpPr>
          <p:cNvPr id="26" name="Conector recto 25"/>
          <p:cNvCxnSpPr/>
          <p:nvPr/>
        </p:nvCxnSpPr>
        <p:spPr>
          <a:xfrm>
            <a:off x="2296170" y="512199"/>
            <a:ext cx="0" cy="1711493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34" name="Rectángulo redondeado 33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96281" y="172724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Ingeniería</a:t>
            </a:r>
          </a:p>
        </p:txBody>
      </p:sp>
      <p:sp>
        <p:nvSpPr>
          <p:cNvPr id="51" name="CuadroTexto 50"/>
          <p:cNvSpPr txBox="1"/>
          <p:nvPr/>
        </p:nvSpPr>
        <p:spPr>
          <a:xfrm>
            <a:off x="288589" y="3126079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Proyectos</a:t>
            </a:r>
          </a:p>
        </p:txBody>
      </p:sp>
      <p:sp>
        <p:nvSpPr>
          <p:cNvPr id="52" name="CuadroTexto 51"/>
          <p:cNvSpPr txBox="1"/>
          <p:nvPr/>
        </p:nvSpPr>
        <p:spPr>
          <a:xfrm>
            <a:off x="296281" y="798105"/>
            <a:ext cx="1865220" cy="369332"/>
          </a:xfrm>
          <a:prstGeom prst="rect">
            <a:avLst/>
          </a:prstGeom>
          <a:solidFill>
            <a:srgbClr val="00FFFF">
              <a:alpha val="7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Diagnostico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284397" y="1269613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Diseño</a:t>
            </a:r>
            <a:endParaRPr lang="es-CL" dirty="0"/>
          </a:p>
        </p:txBody>
      </p:sp>
      <p:sp>
        <p:nvSpPr>
          <p:cNvPr id="54" name="CuadroTexto 53"/>
          <p:cNvSpPr txBox="1"/>
          <p:nvPr/>
        </p:nvSpPr>
        <p:spPr>
          <a:xfrm>
            <a:off x="296281" y="2664128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Operación</a:t>
            </a:r>
            <a:endParaRPr lang="es-CL" dirty="0"/>
          </a:p>
        </p:txBody>
      </p:sp>
      <p:sp>
        <p:nvSpPr>
          <p:cNvPr id="55" name="CuadroTexto 54"/>
          <p:cNvSpPr txBox="1"/>
          <p:nvPr/>
        </p:nvSpPr>
        <p:spPr>
          <a:xfrm>
            <a:off x="284397" y="2188346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Ejecución</a:t>
            </a:r>
            <a:endParaRPr lang="es-CL" dirty="0"/>
          </a:p>
        </p:txBody>
      </p:sp>
      <p:sp>
        <p:nvSpPr>
          <p:cNvPr id="28" name="Rectángulo 27"/>
          <p:cNvSpPr/>
          <p:nvPr/>
        </p:nvSpPr>
        <p:spPr>
          <a:xfrm>
            <a:off x="7139102" y="2561264"/>
            <a:ext cx="5052898" cy="2308324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Un diagnóstico energético es un estudio técnico básico que analiza cómo una organización utiliza su energía. Expone las características principales de la infraestructura e identifica claramente las fuentes de consumo energético para cada área de la línea de producción, permite visualizar la línea base, desde la cual se podrán calcular retornos de inversión y ahorros proyectados. </a:t>
            </a:r>
          </a:p>
        </p:txBody>
      </p:sp>
      <p:cxnSp>
        <p:nvCxnSpPr>
          <p:cNvPr id="36" name="Conector recto 35"/>
          <p:cNvCxnSpPr/>
          <p:nvPr/>
        </p:nvCxnSpPr>
        <p:spPr>
          <a:xfrm flipH="1">
            <a:off x="5023556" y="2223692"/>
            <a:ext cx="4329099" cy="0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38" name="Rectángulo 37"/>
          <p:cNvSpPr/>
          <p:nvPr/>
        </p:nvSpPr>
        <p:spPr>
          <a:xfrm>
            <a:off x="7139102" y="2096259"/>
            <a:ext cx="5052898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Diagnostico Energético</a:t>
            </a:r>
            <a:endParaRPr lang="es-CL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284397" y="5275518"/>
            <a:ext cx="2493041" cy="768926"/>
          </a:xfrm>
          <a:prstGeom prst="roundRect">
            <a:avLst>
              <a:gd name="adj" fmla="val 8168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algn="ctr">
              <a:defRPr sz="3600">
                <a:solidFill>
                  <a:schemeClr val="bg1"/>
                </a:solidFill>
                <a:latin typeface="Candara Light" panose="020E0502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es-CL" sz="1800" dirty="0" smtClean="0"/>
          </a:p>
          <a:p>
            <a:r>
              <a:rPr lang="es-CL" sz="2000" dirty="0" smtClean="0"/>
              <a:t>Contrata </a:t>
            </a:r>
            <a:r>
              <a:rPr lang="es-CL" sz="2000" b="1" dirty="0">
                <a:solidFill>
                  <a:srgbClr val="00FFFF"/>
                </a:solidFill>
              </a:rPr>
              <a:t>aquí</a:t>
            </a:r>
          </a:p>
          <a:p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361181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392"/>
          <a:stretch/>
        </p:blipFill>
        <p:spPr>
          <a:xfrm>
            <a:off x="211969" y="666740"/>
            <a:ext cx="8668144" cy="5745349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17" name="CuadroTexto 16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información</a:t>
              </a:r>
              <a:endParaRPr lang="es-CL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rgbClr val="00FFFF">
                <a:alpha val="20000"/>
              </a:srgbClr>
            </a:solidFill>
            <a:ln>
              <a:solidFill>
                <a:srgbClr val="00FFFF"/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2"/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servicios</a:t>
              </a:r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calculadora</a:t>
              </a:r>
              <a:endParaRPr lang="es-CL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cotiza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contacto</a:t>
              </a:r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asistencia</a:t>
              </a:r>
              <a:endParaRPr lang="es-CL" dirty="0"/>
            </a:p>
          </p:txBody>
        </p:sp>
      </p:grpSp>
      <p:cxnSp>
        <p:nvCxnSpPr>
          <p:cNvPr id="26" name="Conector recto 25"/>
          <p:cNvCxnSpPr/>
          <p:nvPr/>
        </p:nvCxnSpPr>
        <p:spPr>
          <a:xfrm>
            <a:off x="2296170" y="512199"/>
            <a:ext cx="0" cy="1711493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34" name="Rectángulo redondeado 33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96281" y="172724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Ingeniería</a:t>
            </a:r>
          </a:p>
        </p:txBody>
      </p:sp>
      <p:sp>
        <p:nvSpPr>
          <p:cNvPr id="51" name="CuadroTexto 50"/>
          <p:cNvSpPr txBox="1"/>
          <p:nvPr/>
        </p:nvSpPr>
        <p:spPr>
          <a:xfrm>
            <a:off x="288589" y="3126079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Proyectos</a:t>
            </a:r>
          </a:p>
        </p:txBody>
      </p:sp>
      <p:sp>
        <p:nvSpPr>
          <p:cNvPr id="52" name="CuadroTexto 51"/>
          <p:cNvSpPr txBox="1"/>
          <p:nvPr/>
        </p:nvSpPr>
        <p:spPr>
          <a:xfrm>
            <a:off x="296281" y="798105"/>
            <a:ext cx="1865220" cy="369332"/>
          </a:xfrm>
          <a:prstGeom prst="rect">
            <a:avLst/>
          </a:prstGeom>
          <a:solidFill>
            <a:srgbClr val="00FFFF">
              <a:alpha val="7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Diagnostico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284397" y="1269613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Diseño</a:t>
            </a:r>
            <a:endParaRPr lang="es-CL" dirty="0"/>
          </a:p>
        </p:txBody>
      </p:sp>
      <p:sp>
        <p:nvSpPr>
          <p:cNvPr id="54" name="CuadroTexto 53"/>
          <p:cNvSpPr txBox="1"/>
          <p:nvPr/>
        </p:nvSpPr>
        <p:spPr>
          <a:xfrm>
            <a:off x="296281" y="2664128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Operación</a:t>
            </a:r>
            <a:endParaRPr lang="es-CL" dirty="0"/>
          </a:p>
        </p:txBody>
      </p:sp>
      <p:sp>
        <p:nvSpPr>
          <p:cNvPr id="55" name="CuadroTexto 54"/>
          <p:cNvSpPr txBox="1"/>
          <p:nvPr/>
        </p:nvSpPr>
        <p:spPr>
          <a:xfrm>
            <a:off x="284397" y="2188346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Ejecución</a:t>
            </a:r>
            <a:endParaRPr lang="es-CL" dirty="0"/>
          </a:p>
        </p:txBody>
      </p:sp>
      <p:sp>
        <p:nvSpPr>
          <p:cNvPr id="40" name="Rectángulo 39"/>
          <p:cNvSpPr/>
          <p:nvPr/>
        </p:nvSpPr>
        <p:spPr>
          <a:xfrm>
            <a:off x="7139102" y="2559531"/>
            <a:ext cx="5052898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Cálculo </a:t>
            </a:r>
            <a:r>
              <a:rPr lang="es-CL" dirty="0">
                <a:solidFill>
                  <a:srgbClr val="00FFFF"/>
                </a:solidFill>
                <a:latin typeface="Candara Light" panose="020E0502030303020204" pitchFamily="34" charset="0"/>
              </a:rPr>
              <a:t>del potencial de generación FV</a:t>
            </a:r>
          </a:p>
        </p:txBody>
      </p:sp>
      <p:cxnSp>
        <p:nvCxnSpPr>
          <p:cNvPr id="37" name="Conector recto 36"/>
          <p:cNvCxnSpPr/>
          <p:nvPr/>
        </p:nvCxnSpPr>
        <p:spPr>
          <a:xfrm>
            <a:off x="11587855" y="1889333"/>
            <a:ext cx="0" cy="740977"/>
          </a:xfrm>
          <a:prstGeom prst="line">
            <a:avLst/>
          </a:prstGeom>
          <a:ln>
            <a:solidFill>
              <a:srgbClr val="00FF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/>
          <p:cNvSpPr/>
          <p:nvPr/>
        </p:nvSpPr>
        <p:spPr>
          <a:xfrm>
            <a:off x="7139102" y="3036206"/>
            <a:ext cx="5052898" cy="1200329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Un calculo de potencial </a:t>
            </a:r>
            <a:r>
              <a:rPr lang="es-ES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fotovoltaico, </a:t>
            </a:r>
            <a:r>
              <a:rPr lang="es-ES" dirty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permite visualizar la línea base, desde la cual se podrán calcular retornos de inversión y ahorros proyectados. </a:t>
            </a:r>
            <a:endParaRPr lang="es-ES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cxnSp>
        <p:nvCxnSpPr>
          <p:cNvPr id="36" name="Conector recto 35"/>
          <p:cNvCxnSpPr/>
          <p:nvPr/>
        </p:nvCxnSpPr>
        <p:spPr>
          <a:xfrm flipH="1">
            <a:off x="4529835" y="1889333"/>
            <a:ext cx="7058020" cy="0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30" name="CuadroTexto 29"/>
          <p:cNvSpPr txBox="1"/>
          <p:nvPr/>
        </p:nvSpPr>
        <p:spPr>
          <a:xfrm>
            <a:off x="296281" y="5275518"/>
            <a:ext cx="2493041" cy="768926"/>
          </a:xfrm>
          <a:prstGeom prst="roundRect">
            <a:avLst>
              <a:gd name="adj" fmla="val 8168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algn="ctr">
              <a:defRPr sz="3600">
                <a:solidFill>
                  <a:schemeClr val="bg1"/>
                </a:solidFill>
                <a:latin typeface="Candara Light" panose="020E0502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es-CL" sz="1800" dirty="0" smtClean="0"/>
          </a:p>
          <a:p>
            <a:r>
              <a:rPr lang="es-CL" sz="2000" dirty="0" smtClean="0"/>
              <a:t>Haz tu cálculo </a:t>
            </a:r>
            <a:r>
              <a:rPr lang="es-CL" sz="2000" b="1" dirty="0">
                <a:solidFill>
                  <a:srgbClr val="00FFFF"/>
                </a:solidFill>
              </a:rPr>
              <a:t>aquí</a:t>
            </a:r>
          </a:p>
          <a:p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222106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392"/>
          <a:stretch/>
        </p:blipFill>
        <p:spPr>
          <a:xfrm>
            <a:off x="211969" y="666740"/>
            <a:ext cx="8668144" cy="5745349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17" name="CuadroTexto 16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información</a:t>
              </a:r>
              <a:endParaRPr lang="es-CL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rgbClr val="00FFFF">
                <a:alpha val="20000"/>
              </a:srgbClr>
            </a:solidFill>
            <a:ln>
              <a:solidFill>
                <a:srgbClr val="00FFFF"/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2"/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servicios</a:t>
              </a:r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calculadora</a:t>
              </a:r>
              <a:endParaRPr lang="es-CL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cotiza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contacto</a:t>
              </a:r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asistencia</a:t>
              </a:r>
              <a:endParaRPr lang="es-CL" dirty="0"/>
            </a:p>
          </p:txBody>
        </p:sp>
      </p:grpSp>
      <p:cxnSp>
        <p:nvCxnSpPr>
          <p:cNvPr id="26" name="Conector recto 25"/>
          <p:cNvCxnSpPr/>
          <p:nvPr/>
        </p:nvCxnSpPr>
        <p:spPr>
          <a:xfrm>
            <a:off x="2296170" y="512199"/>
            <a:ext cx="0" cy="1711493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34" name="Rectángulo redondeado 33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96281" y="172724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Ingeniería</a:t>
            </a:r>
          </a:p>
        </p:txBody>
      </p:sp>
      <p:sp>
        <p:nvSpPr>
          <p:cNvPr id="51" name="CuadroTexto 50"/>
          <p:cNvSpPr txBox="1"/>
          <p:nvPr/>
        </p:nvSpPr>
        <p:spPr>
          <a:xfrm>
            <a:off x="288589" y="3126079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Proyectos</a:t>
            </a:r>
          </a:p>
        </p:txBody>
      </p:sp>
      <p:sp>
        <p:nvSpPr>
          <p:cNvPr id="52" name="CuadroTexto 51"/>
          <p:cNvSpPr txBox="1"/>
          <p:nvPr/>
        </p:nvSpPr>
        <p:spPr>
          <a:xfrm>
            <a:off x="296281" y="79810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Diagnostico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284397" y="1269613"/>
            <a:ext cx="1865220" cy="369332"/>
          </a:xfrm>
          <a:prstGeom prst="rect">
            <a:avLst/>
          </a:prstGeom>
          <a:solidFill>
            <a:srgbClr val="00FFFF">
              <a:alpha val="7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Diseño</a:t>
            </a:r>
          </a:p>
        </p:txBody>
      </p:sp>
      <p:sp>
        <p:nvSpPr>
          <p:cNvPr id="54" name="CuadroTexto 53"/>
          <p:cNvSpPr txBox="1"/>
          <p:nvPr/>
        </p:nvSpPr>
        <p:spPr>
          <a:xfrm>
            <a:off x="296281" y="2664128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Operación</a:t>
            </a:r>
            <a:endParaRPr lang="es-CL" dirty="0"/>
          </a:p>
        </p:txBody>
      </p:sp>
      <p:sp>
        <p:nvSpPr>
          <p:cNvPr id="55" name="CuadroTexto 54"/>
          <p:cNvSpPr txBox="1"/>
          <p:nvPr/>
        </p:nvSpPr>
        <p:spPr>
          <a:xfrm>
            <a:off x="284397" y="2188346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Ejecución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6102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392"/>
          <a:stretch/>
        </p:blipFill>
        <p:spPr>
          <a:xfrm>
            <a:off x="211969" y="666740"/>
            <a:ext cx="8668144" cy="5745349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17" name="CuadroTexto 16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información</a:t>
              </a:r>
              <a:endParaRPr lang="es-CL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rgbClr val="00FFFF">
                <a:alpha val="20000"/>
              </a:srgbClr>
            </a:solidFill>
            <a:ln>
              <a:solidFill>
                <a:srgbClr val="00FFFF"/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2"/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servicios</a:t>
              </a:r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calculadora</a:t>
              </a:r>
              <a:endParaRPr lang="es-CL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cotiza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contacto</a:t>
              </a:r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asistencia</a:t>
              </a:r>
              <a:endParaRPr lang="es-CL" dirty="0"/>
            </a:p>
          </p:txBody>
        </p:sp>
      </p:grpSp>
      <p:cxnSp>
        <p:nvCxnSpPr>
          <p:cNvPr id="26" name="Conector recto 25"/>
          <p:cNvCxnSpPr/>
          <p:nvPr/>
        </p:nvCxnSpPr>
        <p:spPr>
          <a:xfrm>
            <a:off x="2296170" y="512199"/>
            <a:ext cx="0" cy="1711493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34" name="Rectángulo redondeado 33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96281" y="1727245"/>
            <a:ext cx="1865220" cy="369332"/>
          </a:xfrm>
          <a:prstGeom prst="rect">
            <a:avLst/>
          </a:prstGeom>
          <a:solidFill>
            <a:srgbClr val="00FFFF">
              <a:alpha val="7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Ingeniería</a:t>
            </a:r>
          </a:p>
        </p:txBody>
      </p:sp>
      <p:sp>
        <p:nvSpPr>
          <p:cNvPr id="51" name="CuadroTexto 50"/>
          <p:cNvSpPr txBox="1"/>
          <p:nvPr/>
        </p:nvSpPr>
        <p:spPr>
          <a:xfrm>
            <a:off x="288589" y="3126079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Proyectos</a:t>
            </a:r>
          </a:p>
        </p:txBody>
      </p:sp>
      <p:sp>
        <p:nvSpPr>
          <p:cNvPr id="52" name="CuadroTexto 51"/>
          <p:cNvSpPr txBox="1"/>
          <p:nvPr/>
        </p:nvSpPr>
        <p:spPr>
          <a:xfrm>
            <a:off x="296281" y="79810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Diagnostico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284397" y="1269613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Diseño</a:t>
            </a:r>
          </a:p>
        </p:txBody>
      </p:sp>
      <p:sp>
        <p:nvSpPr>
          <p:cNvPr id="54" name="CuadroTexto 53"/>
          <p:cNvSpPr txBox="1"/>
          <p:nvPr/>
        </p:nvSpPr>
        <p:spPr>
          <a:xfrm>
            <a:off x="296281" y="2664128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Operación</a:t>
            </a:r>
            <a:endParaRPr lang="es-CL" dirty="0"/>
          </a:p>
        </p:txBody>
      </p:sp>
      <p:sp>
        <p:nvSpPr>
          <p:cNvPr id="55" name="CuadroTexto 54"/>
          <p:cNvSpPr txBox="1"/>
          <p:nvPr/>
        </p:nvSpPr>
        <p:spPr>
          <a:xfrm>
            <a:off x="284397" y="2188346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Ejecución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18626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392"/>
          <a:stretch/>
        </p:blipFill>
        <p:spPr>
          <a:xfrm>
            <a:off x="211969" y="666740"/>
            <a:ext cx="8668144" cy="5745349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17" name="CuadroTexto 16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información</a:t>
              </a:r>
              <a:endParaRPr lang="es-CL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rgbClr val="00FFFF">
                <a:alpha val="20000"/>
              </a:srgbClr>
            </a:solidFill>
            <a:ln>
              <a:solidFill>
                <a:srgbClr val="00FFFF"/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2"/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servicios</a:t>
              </a:r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calculadora</a:t>
              </a:r>
              <a:endParaRPr lang="es-CL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cotiza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contacto</a:t>
              </a:r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asistencia</a:t>
              </a:r>
              <a:endParaRPr lang="es-CL" dirty="0"/>
            </a:p>
          </p:txBody>
        </p:sp>
      </p:grpSp>
      <p:cxnSp>
        <p:nvCxnSpPr>
          <p:cNvPr id="26" name="Conector recto 25"/>
          <p:cNvCxnSpPr/>
          <p:nvPr/>
        </p:nvCxnSpPr>
        <p:spPr>
          <a:xfrm>
            <a:off x="2296170" y="512199"/>
            <a:ext cx="0" cy="1711493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34" name="Rectángulo redondeado 33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96281" y="1727245"/>
            <a:ext cx="1865220" cy="369332"/>
          </a:xfrm>
          <a:prstGeom prst="rect">
            <a:avLst/>
          </a:prstGeom>
          <a:solidFill>
            <a:srgbClr val="00FFFF">
              <a:alpha val="7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Ingeniería</a:t>
            </a:r>
          </a:p>
        </p:txBody>
      </p:sp>
      <p:sp>
        <p:nvSpPr>
          <p:cNvPr id="51" name="CuadroTexto 50"/>
          <p:cNvSpPr txBox="1"/>
          <p:nvPr/>
        </p:nvSpPr>
        <p:spPr>
          <a:xfrm>
            <a:off x="288589" y="3126079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/>
              <a:t>Proyectos</a:t>
            </a:r>
          </a:p>
        </p:txBody>
      </p:sp>
      <p:sp>
        <p:nvSpPr>
          <p:cNvPr id="52" name="CuadroTexto 51"/>
          <p:cNvSpPr txBox="1"/>
          <p:nvPr/>
        </p:nvSpPr>
        <p:spPr>
          <a:xfrm>
            <a:off x="296281" y="79810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Diagnostico</a:t>
            </a:r>
            <a:endParaRPr lang="es-CL" dirty="0"/>
          </a:p>
        </p:txBody>
      </p:sp>
      <p:sp>
        <p:nvSpPr>
          <p:cNvPr id="53" name="CuadroTexto 52"/>
          <p:cNvSpPr txBox="1"/>
          <p:nvPr/>
        </p:nvSpPr>
        <p:spPr>
          <a:xfrm>
            <a:off x="284397" y="1269613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Diseño</a:t>
            </a:r>
            <a:endParaRPr lang="es-CL" dirty="0"/>
          </a:p>
        </p:txBody>
      </p:sp>
      <p:sp>
        <p:nvSpPr>
          <p:cNvPr id="54" name="CuadroTexto 53"/>
          <p:cNvSpPr txBox="1"/>
          <p:nvPr/>
        </p:nvSpPr>
        <p:spPr>
          <a:xfrm>
            <a:off x="296281" y="2664128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Operación</a:t>
            </a:r>
            <a:endParaRPr lang="es-CL" dirty="0"/>
          </a:p>
        </p:txBody>
      </p:sp>
      <p:sp>
        <p:nvSpPr>
          <p:cNvPr id="55" name="CuadroTexto 54"/>
          <p:cNvSpPr txBox="1"/>
          <p:nvPr/>
        </p:nvSpPr>
        <p:spPr>
          <a:xfrm>
            <a:off x="284397" y="2188346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Ejecución</a:t>
            </a:r>
            <a:endParaRPr lang="es-CL" dirty="0"/>
          </a:p>
        </p:txBody>
      </p:sp>
      <p:sp>
        <p:nvSpPr>
          <p:cNvPr id="28" name="Rectángulo 27"/>
          <p:cNvSpPr/>
          <p:nvPr/>
        </p:nvSpPr>
        <p:spPr>
          <a:xfrm>
            <a:off x="7139102" y="2223692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Ingeniería Eléctrica </a:t>
            </a:r>
            <a:r>
              <a:rPr lang="es-CL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(empresa socia)</a:t>
            </a:r>
          </a:p>
        </p:txBody>
      </p:sp>
      <p:sp>
        <p:nvSpPr>
          <p:cNvPr id="29" name="Rectángulo 28"/>
          <p:cNvSpPr/>
          <p:nvPr/>
        </p:nvSpPr>
        <p:spPr>
          <a:xfrm>
            <a:off x="7139102" y="2688990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Ingeniería de climatización (empresa socia)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30" name="Rectángulo 29"/>
          <p:cNvSpPr/>
          <p:nvPr/>
        </p:nvSpPr>
        <p:spPr>
          <a:xfrm>
            <a:off x="7139102" y="3152262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Especificaciones técnicas de proyectos</a:t>
            </a:r>
            <a:endParaRPr lang="es-CL" sz="1900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31" name="Rectángulo 30"/>
          <p:cNvSpPr/>
          <p:nvPr/>
        </p:nvSpPr>
        <p:spPr>
          <a:xfrm>
            <a:off x="7139102" y="3628087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Calculo y detalles constructivos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32" name="Rectángulo 31"/>
          <p:cNvSpPr/>
          <p:nvPr/>
        </p:nvSpPr>
        <p:spPr>
          <a:xfrm>
            <a:off x="7139102" y="4093385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Arquitectura de diseño pasivo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33" name="Rectángulo 32"/>
          <p:cNvSpPr/>
          <p:nvPr/>
        </p:nvSpPr>
        <p:spPr>
          <a:xfrm>
            <a:off x="7128370" y="4558624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Desarrollo Sustentable corporativo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268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1D30"/>
              </a:gs>
              <a:gs pos="100000">
                <a:srgbClr val="0B4467"/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392"/>
          <a:stretch/>
        </p:blipFill>
        <p:spPr>
          <a:xfrm>
            <a:off x="211969" y="666740"/>
            <a:ext cx="8668144" cy="5745349"/>
          </a:xfrm>
          <a:prstGeom prst="roundRect">
            <a:avLst>
              <a:gd name="adj" fmla="val 428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82" y="750041"/>
            <a:ext cx="2964662" cy="9655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132724" y="135687"/>
            <a:ext cx="11924607" cy="376512"/>
            <a:chOff x="147804" y="135687"/>
            <a:chExt cx="11837198" cy="376512"/>
          </a:xfrm>
        </p:grpSpPr>
        <p:sp>
          <p:nvSpPr>
            <p:cNvPr id="17" name="CuadroTexto 16"/>
            <p:cNvSpPr txBox="1"/>
            <p:nvPr/>
          </p:nvSpPr>
          <p:spPr>
            <a:xfrm>
              <a:off x="4630143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información</a:t>
              </a:r>
              <a:endParaRPr lang="es-CL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136030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tienda</a:t>
              </a: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641917" y="142867"/>
              <a:ext cx="1376653" cy="369332"/>
            </a:xfrm>
            <a:prstGeom prst="rect">
              <a:avLst/>
            </a:prstGeom>
            <a:solidFill>
              <a:srgbClr val="00FFFF">
                <a:alpha val="20000"/>
              </a:srgbClr>
            </a:solidFill>
            <a:ln>
              <a:solidFill>
                <a:srgbClr val="00FFFF"/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2"/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servicios</a:t>
              </a:r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147804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/>
                <a:t>nosotros</a:t>
              </a: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24256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calculadora</a:t>
              </a:r>
              <a:endParaRPr lang="es-CL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7618369" y="140033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cotiza</a:t>
              </a:r>
              <a:endParaRPr lang="es-CL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9112482" y="13568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contacto</a:t>
              </a:r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10608349" y="142867"/>
              <a:ext cx="1376653" cy="36933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 algn="ctr">
                <a:defRPr>
                  <a:solidFill>
                    <a:schemeClr val="bg1">
                      <a:lumMod val="95000"/>
                    </a:schemeClr>
                  </a:solidFill>
                  <a:latin typeface="Candara Light" panose="020E0502030303020204" pitchFamily="34" charset="0"/>
                </a:defRPr>
              </a:lvl1pPr>
            </a:lstStyle>
            <a:p>
              <a:r>
                <a:rPr lang="es-CL" dirty="0" smtClean="0"/>
                <a:t>asistencia</a:t>
              </a:r>
              <a:endParaRPr lang="es-CL" dirty="0"/>
            </a:p>
          </p:txBody>
        </p:sp>
      </p:grpSp>
      <p:cxnSp>
        <p:nvCxnSpPr>
          <p:cNvPr id="26" name="Conector recto 25"/>
          <p:cNvCxnSpPr/>
          <p:nvPr/>
        </p:nvCxnSpPr>
        <p:spPr>
          <a:xfrm>
            <a:off x="2296170" y="512199"/>
            <a:ext cx="0" cy="1711493"/>
          </a:xfrm>
          <a:prstGeom prst="line">
            <a:avLst/>
          </a:prstGeom>
          <a:solidFill>
            <a:srgbClr val="00FFFF">
              <a:alpha val="20000"/>
            </a:srgbClr>
          </a:solidFill>
          <a:ln>
            <a:solidFill>
              <a:srgbClr val="00FFFF"/>
            </a:solidFill>
            <a:prstDash val="dash"/>
            <a:tailEnd type="oval"/>
          </a:ln>
        </p:spPr>
      </p:cxnSp>
      <p:sp>
        <p:nvSpPr>
          <p:cNvPr id="34" name="Rectángulo redondeado 33"/>
          <p:cNvSpPr/>
          <p:nvPr/>
        </p:nvSpPr>
        <p:spPr>
          <a:xfrm>
            <a:off x="4156480" y="5275518"/>
            <a:ext cx="8035520" cy="768926"/>
          </a:xfrm>
          <a:prstGeom prst="roundRect">
            <a:avLst>
              <a:gd name="adj" fmla="val 0"/>
            </a:avLst>
          </a:prstGeom>
          <a:solidFill>
            <a:srgbClr val="00FFFF">
              <a:alpha val="25000"/>
            </a:srgb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Súmate, que tu energía</a:t>
            </a:r>
            <a:r>
              <a:rPr lang="es-ES" sz="24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es-ES" sz="3600" dirty="0" smtClean="0">
                <a:solidFill>
                  <a:schemeClr val="bg1"/>
                </a:solidFill>
                <a:latin typeface="Candara Light" panose="020E0502030303020204" pitchFamily="34" charset="0"/>
              </a:rPr>
              <a:t>trabaje </a:t>
            </a:r>
            <a:r>
              <a:rPr lang="es-ES" sz="3600" dirty="0" smtClean="0">
                <a:solidFill>
                  <a:srgbClr val="00FFFF"/>
                </a:solidFill>
                <a:latin typeface="Candara Light" panose="020E0502030303020204" pitchFamily="34" charset="0"/>
              </a:rPr>
              <a:t>por tí…</a:t>
            </a:r>
            <a:endParaRPr lang="es-CL" sz="3600" dirty="0">
              <a:solidFill>
                <a:srgbClr val="00FFFF"/>
              </a:solidFill>
              <a:latin typeface="Candara Light" panose="020E0502030303020204" pitchFamily="34" charset="0"/>
            </a:endParaRPr>
          </a:p>
        </p:txBody>
      </p:sp>
      <p:sp>
        <p:nvSpPr>
          <p:cNvPr id="43" name="Rectángulo 42"/>
          <p:cNvSpPr/>
          <p:nvPr/>
        </p:nvSpPr>
        <p:spPr>
          <a:xfrm>
            <a:off x="7139102" y="2223692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Diagnostico Energético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44" name="Rectángulo 43"/>
          <p:cNvSpPr/>
          <p:nvPr/>
        </p:nvSpPr>
        <p:spPr>
          <a:xfrm>
            <a:off x="7139102" y="2688990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Auditoria de eficiencia energética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45" name="Rectángulo 44"/>
          <p:cNvSpPr/>
          <p:nvPr/>
        </p:nvSpPr>
        <p:spPr>
          <a:xfrm>
            <a:off x="7139102" y="3152262"/>
            <a:ext cx="5052898" cy="384721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Modelos de gestion energética ISO </a:t>
            </a:r>
            <a:r>
              <a:rPr lang="es-CL" sz="1900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50.001</a:t>
            </a:r>
            <a:endParaRPr lang="es-CL" sz="1900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46" name="Rectángulo 45"/>
          <p:cNvSpPr/>
          <p:nvPr/>
        </p:nvSpPr>
        <p:spPr>
          <a:xfrm>
            <a:off x="7139102" y="3628087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Modelación y Simulación Energética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47" name="Rectángulo 46"/>
          <p:cNvSpPr/>
          <p:nvPr/>
        </p:nvSpPr>
        <p:spPr>
          <a:xfrm>
            <a:off x="7139102" y="4093385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Acondicionamiento térmico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96281" y="172724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Ingeniería</a:t>
            </a:r>
            <a:endParaRPr lang="es-CL" dirty="0"/>
          </a:p>
        </p:txBody>
      </p:sp>
      <p:sp>
        <p:nvSpPr>
          <p:cNvPr id="51" name="CuadroTexto 50"/>
          <p:cNvSpPr txBox="1"/>
          <p:nvPr/>
        </p:nvSpPr>
        <p:spPr>
          <a:xfrm>
            <a:off x="288589" y="3126079"/>
            <a:ext cx="1865220" cy="369332"/>
          </a:xfrm>
          <a:prstGeom prst="rect">
            <a:avLst/>
          </a:prstGeom>
          <a:solidFill>
            <a:srgbClr val="00FFFF">
              <a:alpha val="7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accent5">
                    <a:lumMod val="7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Proyectos</a:t>
            </a:r>
            <a:endParaRPr lang="es-CL" dirty="0"/>
          </a:p>
        </p:txBody>
      </p:sp>
      <p:sp>
        <p:nvSpPr>
          <p:cNvPr id="52" name="CuadroTexto 51"/>
          <p:cNvSpPr txBox="1"/>
          <p:nvPr/>
        </p:nvSpPr>
        <p:spPr>
          <a:xfrm>
            <a:off x="296281" y="798105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Diagnostico</a:t>
            </a:r>
            <a:endParaRPr lang="es-CL" dirty="0"/>
          </a:p>
        </p:txBody>
      </p:sp>
      <p:sp>
        <p:nvSpPr>
          <p:cNvPr id="53" name="CuadroTexto 52"/>
          <p:cNvSpPr txBox="1"/>
          <p:nvPr/>
        </p:nvSpPr>
        <p:spPr>
          <a:xfrm>
            <a:off x="284397" y="1269613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Diseño</a:t>
            </a:r>
            <a:endParaRPr lang="es-CL" dirty="0"/>
          </a:p>
        </p:txBody>
      </p:sp>
      <p:sp>
        <p:nvSpPr>
          <p:cNvPr id="54" name="CuadroTexto 53"/>
          <p:cNvSpPr txBox="1"/>
          <p:nvPr/>
        </p:nvSpPr>
        <p:spPr>
          <a:xfrm>
            <a:off x="296281" y="2664128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Operación</a:t>
            </a:r>
            <a:endParaRPr lang="es-CL" dirty="0"/>
          </a:p>
        </p:txBody>
      </p:sp>
      <p:sp>
        <p:nvSpPr>
          <p:cNvPr id="55" name="CuadroTexto 54"/>
          <p:cNvSpPr txBox="1"/>
          <p:nvPr/>
        </p:nvSpPr>
        <p:spPr>
          <a:xfrm>
            <a:off x="284397" y="2188346"/>
            <a:ext cx="1865220" cy="369332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defRPr>
            </a:lvl1pPr>
          </a:lstStyle>
          <a:p>
            <a:r>
              <a:rPr lang="es-CL" dirty="0" smtClean="0"/>
              <a:t>Ejecución</a:t>
            </a:r>
            <a:endParaRPr lang="es-CL" dirty="0"/>
          </a:p>
        </p:txBody>
      </p:sp>
      <p:sp>
        <p:nvSpPr>
          <p:cNvPr id="56" name="Rectángulo 55"/>
          <p:cNvSpPr/>
          <p:nvPr/>
        </p:nvSpPr>
        <p:spPr>
          <a:xfrm>
            <a:off x="7128370" y="4558624"/>
            <a:ext cx="5052898" cy="369332"/>
          </a:xfrm>
          <a:prstGeom prst="rect">
            <a:avLst/>
          </a:prstGeom>
          <a:solidFill>
            <a:schemeClr val="bg2">
              <a:lumMod val="50000"/>
              <a:alpha val="59000"/>
            </a:schemeClr>
          </a:solidFill>
        </p:spPr>
        <p:txBody>
          <a:bodyPr wrap="square">
            <a:spAutoFit/>
          </a:bodyPr>
          <a:lstStyle/>
          <a:p>
            <a:pPr lvl="1" algn="just"/>
            <a:r>
              <a:rPr lang="es-CL" dirty="0" smtClean="0">
                <a:solidFill>
                  <a:schemeClr val="bg1">
                    <a:lumMod val="95000"/>
                  </a:schemeClr>
                </a:solidFill>
                <a:latin typeface="Candara Light" panose="020E0502030303020204" pitchFamily="34" charset="0"/>
              </a:rPr>
              <a:t>Proyectos de Energía renovable</a:t>
            </a:r>
            <a:endParaRPr lang="es-CL" dirty="0">
              <a:solidFill>
                <a:schemeClr val="bg1">
                  <a:lumMod val="95000"/>
                </a:schemeClr>
              </a:solidFill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833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/>
          <p:cNvSpPr/>
          <p:nvPr/>
        </p:nvSpPr>
        <p:spPr>
          <a:xfrm>
            <a:off x="1241778" y="458618"/>
            <a:ext cx="10126133" cy="3548938"/>
          </a:xfrm>
          <a:prstGeom prst="roundRect">
            <a:avLst>
              <a:gd name="adj" fmla="val 9702"/>
            </a:avLst>
          </a:prstGeom>
          <a:solidFill>
            <a:schemeClr val="accent4">
              <a:lumMod val="60000"/>
              <a:lumOff val="40000"/>
              <a:alpha val="8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0" dirty="0" smtClean="0"/>
              <a:t>De aquí hacia abajo no considerar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049598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201650"/>
            <a:ext cx="10966305" cy="645469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673" y="533691"/>
            <a:ext cx="3780848" cy="1256472"/>
          </a:xfrm>
          <a:prstGeom prst="rect">
            <a:avLst/>
          </a:prstGeom>
        </p:spPr>
      </p:pic>
      <p:sp>
        <p:nvSpPr>
          <p:cNvPr id="7" name="Rectángulo redondeado 6"/>
          <p:cNvSpPr/>
          <p:nvPr/>
        </p:nvSpPr>
        <p:spPr>
          <a:xfrm>
            <a:off x="7175824" y="458618"/>
            <a:ext cx="4192087" cy="1331545"/>
          </a:xfrm>
          <a:prstGeom prst="roundRect">
            <a:avLst>
              <a:gd name="adj" fmla="val 9702"/>
            </a:avLst>
          </a:prstGeom>
          <a:solidFill>
            <a:schemeClr val="accent4">
              <a:lumMod val="60000"/>
              <a:lumOff val="40000"/>
              <a:alpha val="8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hogar</a:t>
            </a:r>
            <a:endParaRPr lang="es-CL" dirty="0"/>
          </a:p>
        </p:txBody>
      </p:sp>
      <p:sp>
        <p:nvSpPr>
          <p:cNvPr id="8" name="CuadroTexto 7"/>
          <p:cNvSpPr txBox="1"/>
          <p:nvPr/>
        </p:nvSpPr>
        <p:spPr>
          <a:xfrm>
            <a:off x="3636097" y="5968133"/>
            <a:ext cx="795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</a:rPr>
              <a:t>EFICIENCIA ENERGETICA + ENERGIA RENOVABLE + </a:t>
            </a:r>
            <a:endParaRPr lang="es-CL" dirty="0">
              <a:solidFill>
                <a:schemeClr val="bg1"/>
              </a:solidFill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1745673" y="1948205"/>
            <a:ext cx="5304056" cy="352543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IDENTIFICACION</a:t>
            </a:r>
            <a:endParaRPr lang="es-CL" dirty="0"/>
          </a:p>
        </p:txBody>
      </p:sp>
      <p:sp>
        <p:nvSpPr>
          <p:cNvPr id="10" name="Rectángulo redondeado 9"/>
          <p:cNvSpPr/>
          <p:nvPr/>
        </p:nvSpPr>
        <p:spPr>
          <a:xfrm>
            <a:off x="1745673" y="2425814"/>
            <a:ext cx="5304056" cy="612354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RUT / CONTACTO / CORREO / </a:t>
            </a:r>
            <a:r>
              <a:rPr lang="es-ES" dirty="0" smtClean="0">
                <a:solidFill>
                  <a:srgbClr val="FF0000"/>
                </a:solidFill>
              </a:rPr>
              <a:t>CIUDAD /</a:t>
            </a:r>
            <a:r>
              <a:rPr lang="es-ES" dirty="0" smtClean="0">
                <a:solidFill>
                  <a:schemeClr val="bg1"/>
                </a:solidFill>
              </a:rPr>
              <a:t>TELEFONO / n </a:t>
            </a:r>
            <a:r>
              <a:rPr lang="es-ES" dirty="0" err="1" smtClean="0">
                <a:solidFill>
                  <a:schemeClr val="bg1"/>
                </a:solidFill>
              </a:rPr>
              <a:t>cLIENTE</a:t>
            </a:r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" name="Rectángulo redondeado 10"/>
          <p:cNvSpPr/>
          <p:nvPr/>
        </p:nvSpPr>
        <p:spPr>
          <a:xfrm>
            <a:off x="1745673" y="3163234"/>
            <a:ext cx="5304056" cy="612354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RUT / CONTACTO / CORREO / </a:t>
            </a:r>
            <a:r>
              <a:rPr lang="es-ES" dirty="0" smtClean="0">
                <a:solidFill>
                  <a:srgbClr val="FF0000"/>
                </a:solidFill>
              </a:rPr>
              <a:t>CIUDAD /</a:t>
            </a:r>
            <a:r>
              <a:rPr lang="es-ES" dirty="0" smtClean="0">
                <a:solidFill>
                  <a:schemeClr val="bg1"/>
                </a:solidFill>
              </a:rPr>
              <a:t>TELEFONO / n </a:t>
            </a:r>
            <a:r>
              <a:rPr lang="es-ES" dirty="0" err="1" smtClean="0">
                <a:solidFill>
                  <a:schemeClr val="bg1"/>
                </a:solidFill>
              </a:rPr>
              <a:t>cLIENTE</a:t>
            </a:r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" name="Rectángulo redondeado 11"/>
          <p:cNvSpPr/>
          <p:nvPr/>
        </p:nvSpPr>
        <p:spPr>
          <a:xfrm>
            <a:off x="1745673" y="3949734"/>
            <a:ext cx="5304056" cy="352543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NOMBRE DE EMPRESA numero cliente</a:t>
            </a:r>
            <a:endParaRPr lang="es-CL" dirty="0"/>
          </a:p>
        </p:txBody>
      </p:sp>
      <p:sp>
        <p:nvSpPr>
          <p:cNvPr id="13" name="Rectángulo redondeado 12"/>
          <p:cNvSpPr/>
          <p:nvPr/>
        </p:nvSpPr>
        <p:spPr>
          <a:xfrm>
            <a:off x="1745673" y="4427343"/>
            <a:ext cx="5304056" cy="612354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RUT / CONTACTO / CORREO / </a:t>
            </a:r>
            <a:r>
              <a:rPr lang="es-ES" dirty="0" smtClean="0">
                <a:solidFill>
                  <a:srgbClr val="FF0000"/>
                </a:solidFill>
              </a:rPr>
              <a:t>CIUDAD /</a:t>
            </a:r>
            <a:r>
              <a:rPr lang="es-ES" dirty="0" smtClean="0">
                <a:solidFill>
                  <a:schemeClr val="bg1"/>
                </a:solidFill>
              </a:rPr>
              <a:t>TELEFONO / n </a:t>
            </a:r>
            <a:r>
              <a:rPr lang="es-ES" dirty="0" err="1" smtClean="0">
                <a:solidFill>
                  <a:schemeClr val="bg1"/>
                </a:solidFill>
              </a:rPr>
              <a:t>cLIENTE</a:t>
            </a:r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4" name="Rectángulo redondeado 13"/>
          <p:cNvSpPr/>
          <p:nvPr/>
        </p:nvSpPr>
        <p:spPr>
          <a:xfrm>
            <a:off x="1745673" y="5164763"/>
            <a:ext cx="5304056" cy="612354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RUT / CONTACTO / CORREO / </a:t>
            </a:r>
            <a:r>
              <a:rPr lang="es-ES" dirty="0" smtClean="0">
                <a:solidFill>
                  <a:srgbClr val="FF0000"/>
                </a:solidFill>
              </a:rPr>
              <a:t>CIUDAD /</a:t>
            </a:r>
            <a:r>
              <a:rPr lang="es-ES" dirty="0" smtClean="0">
                <a:solidFill>
                  <a:schemeClr val="bg1"/>
                </a:solidFill>
              </a:rPr>
              <a:t>TELEFONO / n </a:t>
            </a:r>
            <a:r>
              <a:rPr lang="es-ES" dirty="0" err="1" smtClean="0">
                <a:solidFill>
                  <a:schemeClr val="bg1"/>
                </a:solidFill>
              </a:rPr>
              <a:t>cLIENTE</a:t>
            </a:r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5" name="Rectángulo redondeado 14"/>
          <p:cNvSpPr/>
          <p:nvPr/>
        </p:nvSpPr>
        <p:spPr>
          <a:xfrm>
            <a:off x="7230679" y="4445572"/>
            <a:ext cx="3307459" cy="1331545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CONTINUAR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6424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201650"/>
            <a:ext cx="10966305" cy="645469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673" y="533691"/>
            <a:ext cx="3780848" cy="1256472"/>
          </a:xfrm>
          <a:prstGeom prst="rect">
            <a:avLst/>
          </a:prstGeom>
        </p:spPr>
      </p:pic>
      <p:sp>
        <p:nvSpPr>
          <p:cNvPr id="7" name="Rectángulo redondeado 6"/>
          <p:cNvSpPr/>
          <p:nvPr/>
        </p:nvSpPr>
        <p:spPr>
          <a:xfrm>
            <a:off x="7175824" y="458618"/>
            <a:ext cx="3307459" cy="133154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8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hogar</a:t>
            </a:r>
            <a:endParaRPr lang="es-CL" dirty="0"/>
          </a:p>
        </p:txBody>
      </p:sp>
      <p:sp>
        <p:nvSpPr>
          <p:cNvPr id="8" name="CuadroTexto 7"/>
          <p:cNvSpPr txBox="1"/>
          <p:nvPr/>
        </p:nvSpPr>
        <p:spPr>
          <a:xfrm>
            <a:off x="3636097" y="5968133"/>
            <a:ext cx="795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</a:rPr>
              <a:t>EFICIENCIA ENERGETICA + ENERGIA RENOVABLE + </a:t>
            </a:r>
            <a:endParaRPr lang="es-CL" dirty="0">
              <a:solidFill>
                <a:schemeClr val="bg1"/>
              </a:solidFill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1745673" y="1948205"/>
            <a:ext cx="5304056" cy="352543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UBICACION</a:t>
            </a:r>
            <a:endParaRPr lang="es-CL" dirty="0"/>
          </a:p>
        </p:txBody>
      </p:sp>
      <p:sp>
        <p:nvSpPr>
          <p:cNvPr id="15" name="Rectángulo redondeado 14"/>
          <p:cNvSpPr/>
          <p:nvPr/>
        </p:nvSpPr>
        <p:spPr>
          <a:xfrm>
            <a:off x="7175825" y="4483510"/>
            <a:ext cx="3362314" cy="1293607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CONTINUAR</a:t>
            </a:r>
            <a:endParaRPr lang="es-CL" dirty="0"/>
          </a:p>
        </p:txBody>
      </p:sp>
      <p:sp>
        <p:nvSpPr>
          <p:cNvPr id="16" name="Rectángulo redondeado 15"/>
          <p:cNvSpPr/>
          <p:nvPr/>
        </p:nvSpPr>
        <p:spPr>
          <a:xfrm>
            <a:off x="1745673" y="2458790"/>
            <a:ext cx="5304056" cy="3318327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DONDE ESTARÁ TU PROYECTO (MAPS)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0303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201650"/>
            <a:ext cx="10966305" cy="645469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673" y="533691"/>
            <a:ext cx="3780848" cy="1256472"/>
          </a:xfrm>
          <a:prstGeom prst="rect">
            <a:avLst/>
          </a:prstGeom>
        </p:spPr>
      </p:pic>
      <p:sp>
        <p:nvSpPr>
          <p:cNvPr id="7" name="Rectángulo redondeado 6"/>
          <p:cNvSpPr/>
          <p:nvPr/>
        </p:nvSpPr>
        <p:spPr>
          <a:xfrm>
            <a:off x="7175824" y="458618"/>
            <a:ext cx="3307459" cy="133154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8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HOGAR</a:t>
            </a:r>
            <a:endParaRPr lang="es-CL" dirty="0"/>
          </a:p>
        </p:txBody>
      </p:sp>
      <p:sp>
        <p:nvSpPr>
          <p:cNvPr id="8" name="CuadroTexto 7"/>
          <p:cNvSpPr txBox="1"/>
          <p:nvPr/>
        </p:nvSpPr>
        <p:spPr>
          <a:xfrm>
            <a:off x="3636097" y="5968133"/>
            <a:ext cx="795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</a:rPr>
              <a:t>EFICIENCIA ENERGETICA + ENERGIA RENOVABLE + </a:t>
            </a:r>
            <a:endParaRPr lang="es-CL" dirty="0">
              <a:solidFill>
                <a:schemeClr val="bg1"/>
              </a:solidFill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1745673" y="1948205"/>
            <a:ext cx="5304056" cy="352543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CO NSUMO botón de cargar boleta en PDF</a:t>
            </a:r>
            <a:endParaRPr lang="es-CL" dirty="0"/>
          </a:p>
        </p:txBody>
      </p:sp>
      <p:sp>
        <p:nvSpPr>
          <p:cNvPr id="15" name="Rectángulo redondeado 14"/>
          <p:cNvSpPr/>
          <p:nvPr/>
        </p:nvSpPr>
        <p:spPr>
          <a:xfrm>
            <a:off x="7175825" y="4483510"/>
            <a:ext cx="3362314" cy="1293607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CONTINUAR</a:t>
            </a:r>
            <a:endParaRPr lang="es-CL" dirty="0"/>
          </a:p>
        </p:txBody>
      </p:sp>
      <p:sp>
        <p:nvSpPr>
          <p:cNvPr id="16" name="Rectángulo redondeado 15"/>
          <p:cNvSpPr/>
          <p:nvPr/>
        </p:nvSpPr>
        <p:spPr>
          <a:xfrm>
            <a:off x="1745673" y="2458790"/>
            <a:ext cx="5304056" cy="943171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CUANTO CONSUMES MENSUAL kW </a:t>
            </a:r>
            <a:r>
              <a:rPr lang="es-ES" dirty="0" err="1" smtClean="0"/>
              <a:t>hMes</a:t>
            </a:r>
            <a:r>
              <a:rPr lang="es-ES" dirty="0" smtClean="0"/>
              <a:t> </a:t>
            </a:r>
            <a:endParaRPr lang="es-CL" dirty="0"/>
          </a:p>
        </p:txBody>
      </p:sp>
      <p:sp>
        <p:nvSpPr>
          <p:cNvPr id="2" name="Rectángulo redondeado 1"/>
          <p:cNvSpPr/>
          <p:nvPr/>
        </p:nvSpPr>
        <p:spPr>
          <a:xfrm>
            <a:off x="1976284" y="3254477"/>
            <a:ext cx="4817806" cy="983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11"/>
          <p:cNvSpPr/>
          <p:nvPr/>
        </p:nvSpPr>
        <p:spPr>
          <a:xfrm>
            <a:off x="1745673" y="3536718"/>
            <a:ext cx="5304056" cy="943171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CUANTO CONSUMES MENSUAL $</a:t>
            </a:r>
            <a:endParaRPr lang="es-CL" dirty="0"/>
          </a:p>
        </p:txBody>
      </p:sp>
      <p:sp>
        <p:nvSpPr>
          <p:cNvPr id="13" name="Rectángulo redondeado 12"/>
          <p:cNvSpPr/>
          <p:nvPr/>
        </p:nvSpPr>
        <p:spPr>
          <a:xfrm>
            <a:off x="1976284" y="4234083"/>
            <a:ext cx="4817806" cy="983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0" name="Grupo 9"/>
          <p:cNvGrpSpPr/>
          <p:nvPr/>
        </p:nvGrpSpPr>
        <p:grpSpPr>
          <a:xfrm>
            <a:off x="4397701" y="3161537"/>
            <a:ext cx="344129" cy="1254909"/>
            <a:chOff x="2566219" y="3156155"/>
            <a:chExt cx="344129" cy="1254909"/>
          </a:xfrm>
        </p:grpSpPr>
        <p:sp>
          <p:nvSpPr>
            <p:cNvPr id="6" name="Elipse 5"/>
            <p:cNvSpPr/>
            <p:nvPr/>
          </p:nvSpPr>
          <p:spPr>
            <a:xfrm>
              <a:off x="2566219" y="3156155"/>
              <a:ext cx="344129" cy="27530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" name="Elipse 13"/>
            <p:cNvSpPr/>
            <p:nvPr/>
          </p:nvSpPr>
          <p:spPr>
            <a:xfrm>
              <a:off x="2566219" y="4135761"/>
              <a:ext cx="344129" cy="27530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7" name="Rectángulo redondeado 16"/>
          <p:cNvSpPr/>
          <p:nvPr/>
        </p:nvSpPr>
        <p:spPr>
          <a:xfrm>
            <a:off x="1808721" y="4774838"/>
            <a:ext cx="5304056" cy="943171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CUANTO quiero ahorrar</a:t>
            </a:r>
            <a:endParaRPr lang="es-CL" dirty="0"/>
          </a:p>
        </p:txBody>
      </p:sp>
      <p:sp>
        <p:nvSpPr>
          <p:cNvPr id="19" name="Rectángulo redondeado 18"/>
          <p:cNvSpPr/>
          <p:nvPr/>
        </p:nvSpPr>
        <p:spPr>
          <a:xfrm>
            <a:off x="2051846" y="5518469"/>
            <a:ext cx="4817806" cy="983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Elipse 17"/>
          <p:cNvSpPr/>
          <p:nvPr/>
        </p:nvSpPr>
        <p:spPr>
          <a:xfrm>
            <a:off x="4460749" y="5411249"/>
            <a:ext cx="344129" cy="27530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CuadroTexto 10"/>
          <p:cNvSpPr txBox="1"/>
          <p:nvPr/>
        </p:nvSpPr>
        <p:spPr>
          <a:xfrm>
            <a:off x="3965900" y="3435501"/>
            <a:ext cx="2130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500kW h mes</a:t>
            </a:r>
            <a:endParaRPr lang="es-CL" dirty="0"/>
          </a:p>
        </p:txBody>
      </p:sp>
      <p:sp>
        <p:nvSpPr>
          <p:cNvPr id="20" name="Rectángulo redondeado 19"/>
          <p:cNvSpPr/>
          <p:nvPr/>
        </p:nvSpPr>
        <p:spPr>
          <a:xfrm>
            <a:off x="7309902" y="1924920"/>
            <a:ext cx="3173380" cy="375828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boleta en PDF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7939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201650"/>
            <a:ext cx="10966305" cy="645469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673" y="533691"/>
            <a:ext cx="3780848" cy="1256472"/>
          </a:xfrm>
          <a:prstGeom prst="rect">
            <a:avLst/>
          </a:prstGeom>
        </p:spPr>
      </p:pic>
      <p:sp>
        <p:nvSpPr>
          <p:cNvPr id="7" name="Rectángulo redondeado 6"/>
          <p:cNvSpPr/>
          <p:nvPr/>
        </p:nvSpPr>
        <p:spPr>
          <a:xfrm>
            <a:off x="7175824" y="458618"/>
            <a:ext cx="3307459" cy="1331545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hogar</a:t>
            </a:r>
            <a:endParaRPr lang="es-CL" dirty="0"/>
          </a:p>
        </p:txBody>
      </p:sp>
      <p:sp>
        <p:nvSpPr>
          <p:cNvPr id="8" name="CuadroTexto 7"/>
          <p:cNvSpPr txBox="1"/>
          <p:nvPr/>
        </p:nvSpPr>
        <p:spPr>
          <a:xfrm>
            <a:off x="3636097" y="5968133"/>
            <a:ext cx="795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</a:rPr>
              <a:t>EFICIENCIA ENERGETICA + ENERGIA RENOVABLE + </a:t>
            </a:r>
            <a:endParaRPr lang="es-CL" dirty="0">
              <a:solidFill>
                <a:schemeClr val="bg1"/>
              </a:solidFill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1745673" y="1948205"/>
            <a:ext cx="5304056" cy="352543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Esto quiero ahorrar</a:t>
            </a:r>
            <a:endParaRPr lang="es-CL" dirty="0"/>
          </a:p>
        </p:txBody>
      </p:sp>
      <p:sp>
        <p:nvSpPr>
          <p:cNvPr id="15" name="Rectángulo redondeado 14"/>
          <p:cNvSpPr/>
          <p:nvPr/>
        </p:nvSpPr>
        <p:spPr>
          <a:xfrm>
            <a:off x="9284025" y="4483510"/>
            <a:ext cx="1663375" cy="1293607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Calcular proyecto</a:t>
            </a:r>
            <a:endParaRPr lang="es-CL" dirty="0"/>
          </a:p>
        </p:txBody>
      </p:sp>
      <p:sp>
        <p:nvSpPr>
          <p:cNvPr id="19" name="Rectángulo redondeado 18"/>
          <p:cNvSpPr/>
          <p:nvPr/>
        </p:nvSpPr>
        <p:spPr>
          <a:xfrm>
            <a:off x="2051846" y="2491764"/>
            <a:ext cx="4817806" cy="983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Elipse 17"/>
          <p:cNvSpPr/>
          <p:nvPr/>
        </p:nvSpPr>
        <p:spPr>
          <a:xfrm>
            <a:off x="4225636" y="2403312"/>
            <a:ext cx="344129" cy="27530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CuadroTexto 19"/>
          <p:cNvSpPr txBox="1"/>
          <p:nvPr/>
        </p:nvSpPr>
        <p:spPr>
          <a:xfrm>
            <a:off x="3396422" y="2767067"/>
            <a:ext cx="2130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50% = 250kW h mes</a:t>
            </a:r>
            <a:endParaRPr lang="es-CL" dirty="0"/>
          </a:p>
        </p:txBody>
      </p:sp>
      <p:pic>
        <p:nvPicPr>
          <p:cNvPr id="22" name="Picture 2" descr="kits Solares - HAKON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448" y="3168267"/>
            <a:ext cx="3169198" cy="3169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/>
          <p:cNvSpPr txBox="1"/>
          <p:nvPr/>
        </p:nvSpPr>
        <p:spPr>
          <a:xfrm>
            <a:off x="5927443" y="3097071"/>
            <a:ext cx="4555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chemeClr val="tx2">
                    <a:lumMod val="75000"/>
                  </a:schemeClr>
                </a:solidFill>
              </a:rPr>
              <a:t>Kit solar de 2,8 </a:t>
            </a:r>
            <a:r>
              <a:rPr lang="es-ES" sz="2400" dirty="0" err="1" smtClean="0">
                <a:solidFill>
                  <a:schemeClr val="tx2">
                    <a:lumMod val="75000"/>
                  </a:schemeClr>
                </a:solidFill>
              </a:rPr>
              <a:t>Kw</a:t>
            </a:r>
            <a:r>
              <a:rPr lang="es-ES" sz="2400" dirty="0" smtClean="0">
                <a:solidFill>
                  <a:schemeClr val="tx2">
                    <a:lumMod val="75000"/>
                  </a:schemeClr>
                </a:solidFill>
              </a:rPr>
              <a:t> potencia instalada con inversor hibrido de 3Kw ONGRID. 10 m2</a:t>
            </a:r>
            <a:endParaRPr lang="es-CL" sz="2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57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201650"/>
            <a:ext cx="10966305" cy="645469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673" y="533691"/>
            <a:ext cx="3780848" cy="1256472"/>
          </a:xfrm>
          <a:prstGeom prst="rect">
            <a:avLst/>
          </a:prstGeom>
        </p:spPr>
      </p:pic>
      <p:sp>
        <p:nvSpPr>
          <p:cNvPr id="7" name="Rectángulo redondeado 6"/>
          <p:cNvSpPr/>
          <p:nvPr/>
        </p:nvSpPr>
        <p:spPr>
          <a:xfrm>
            <a:off x="7175824" y="458618"/>
            <a:ext cx="3307459" cy="133154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8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HOGAR</a:t>
            </a:r>
            <a:endParaRPr lang="es-CL" dirty="0"/>
          </a:p>
        </p:txBody>
      </p:sp>
      <p:sp>
        <p:nvSpPr>
          <p:cNvPr id="8" name="CuadroTexto 7"/>
          <p:cNvSpPr txBox="1"/>
          <p:nvPr/>
        </p:nvSpPr>
        <p:spPr>
          <a:xfrm>
            <a:off x="3636097" y="5968133"/>
            <a:ext cx="795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</a:rPr>
              <a:t>EFICIENCIA ENERGETICA + ENERGIA RENOVABLE + </a:t>
            </a:r>
            <a:endParaRPr lang="es-CL" dirty="0">
              <a:solidFill>
                <a:schemeClr val="bg1"/>
              </a:solidFill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1745673" y="1948205"/>
            <a:ext cx="5304056" cy="352543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CO NSUMO botón de cargar boleta en PDF</a:t>
            </a:r>
            <a:endParaRPr lang="es-CL" dirty="0"/>
          </a:p>
        </p:txBody>
      </p:sp>
      <p:sp>
        <p:nvSpPr>
          <p:cNvPr id="15" name="Rectángulo redondeado 14"/>
          <p:cNvSpPr/>
          <p:nvPr/>
        </p:nvSpPr>
        <p:spPr>
          <a:xfrm>
            <a:off x="7175825" y="4483510"/>
            <a:ext cx="3362314" cy="1293607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CONTINUAR</a:t>
            </a:r>
            <a:endParaRPr lang="es-CL" dirty="0"/>
          </a:p>
        </p:txBody>
      </p:sp>
      <p:sp>
        <p:nvSpPr>
          <p:cNvPr id="16" name="Rectángulo redondeado 15"/>
          <p:cNvSpPr/>
          <p:nvPr/>
        </p:nvSpPr>
        <p:spPr>
          <a:xfrm>
            <a:off x="1745673" y="2458790"/>
            <a:ext cx="5304056" cy="943171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CUANTO CONSUMES MENSUAL kW </a:t>
            </a:r>
            <a:r>
              <a:rPr lang="es-ES" dirty="0" err="1" smtClean="0"/>
              <a:t>hMes</a:t>
            </a:r>
            <a:r>
              <a:rPr lang="es-ES" dirty="0" smtClean="0"/>
              <a:t> </a:t>
            </a:r>
            <a:endParaRPr lang="es-CL" dirty="0"/>
          </a:p>
        </p:txBody>
      </p:sp>
      <p:sp>
        <p:nvSpPr>
          <p:cNvPr id="2" name="Rectángulo redondeado 1"/>
          <p:cNvSpPr/>
          <p:nvPr/>
        </p:nvSpPr>
        <p:spPr>
          <a:xfrm>
            <a:off x="1976284" y="3254477"/>
            <a:ext cx="4817806" cy="983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11"/>
          <p:cNvSpPr/>
          <p:nvPr/>
        </p:nvSpPr>
        <p:spPr>
          <a:xfrm>
            <a:off x="1745673" y="3536718"/>
            <a:ext cx="5304056" cy="943171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CUANTO CONSUMES MENSUAL $</a:t>
            </a:r>
            <a:endParaRPr lang="es-CL" dirty="0"/>
          </a:p>
        </p:txBody>
      </p:sp>
      <p:sp>
        <p:nvSpPr>
          <p:cNvPr id="13" name="Rectángulo redondeado 12"/>
          <p:cNvSpPr/>
          <p:nvPr/>
        </p:nvSpPr>
        <p:spPr>
          <a:xfrm>
            <a:off x="1976284" y="4234083"/>
            <a:ext cx="4817806" cy="983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0" name="Grupo 9"/>
          <p:cNvGrpSpPr/>
          <p:nvPr/>
        </p:nvGrpSpPr>
        <p:grpSpPr>
          <a:xfrm>
            <a:off x="4397701" y="3161537"/>
            <a:ext cx="344129" cy="1254909"/>
            <a:chOff x="2566219" y="3156155"/>
            <a:chExt cx="344129" cy="1254909"/>
          </a:xfrm>
        </p:grpSpPr>
        <p:sp>
          <p:nvSpPr>
            <p:cNvPr id="6" name="Elipse 5"/>
            <p:cNvSpPr/>
            <p:nvPr/>
          </p:nvSpPr>
          <p:spPr>
            <a:xfrm>
              <a:off x="2566219" y="3156155"/>
              <a:ext cx="344129" cy="27530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" name="Elipse 13"/>
            <p:cNvSpPr/>
            <p:nvPr/>
          </p:nvSpPr>
          <p:spPr>
            <a:xfrm>
              <a:off x="2566219" y="4135761"/>
              <a:ext cx="344129" cy="275303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7" name="Rectángulo redondeado 16"/>
          <p:cNvSpPr/>
          <p:nvPr/>
        </p:nvSpPr>
        <p:spPr>
          <a:xfrm>
            <a:off x="1808721" y="4774838"/>
            <a:ext cx="5304056" cy="943171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CUANTO quiero ahorrar</a:t>
            </a:r>
            <a:endParaRPr lang="es-CL" dirty="0"/>
          </a:p>
        </p:txBody>
      </p:sp>
      <p:sp>
        <p:nvSpPr>
          <p:cNvPr id="19" name="Rectángulo redondeado 18"/>
          <p:cNvSpPr/>
          <p:nvPr/>
        </p:nvSpPr>
        <p:spPr>
          <a:xfrm>
            <a:off x="2051846" y="5518469"/>
            <a:ext cx="4817806" cy="983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Elipse 17"/>
          <p:cNvSpPr/>
          <p:nvPr/>
        </p:nvSpPr>
        <p:spPr>
          <a:xfrm>
            <a:off x="6622025" y="5442706"/>
            <a:ext cx="344129" cy="27530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CuadroTexto 10"/>
          <p:cNvSpPr txBox="1"/>
          <p:nvPr/>
        </p:nvSpPr>
        <p:spPr>
          <a:xfrm>
            <a:off x="3965900" y="3435501"/>
            <a:ext cx="2130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500kW h mes</a:t>
            </a:r>
            <a:endParaRPr lang="es-CL" dirty="0"/>
          </a:p>
        </p:txBody>
      </p:sp>
      <p:sp>
        <p:nvSpPr>
          <p:cNvPr id="20" name="Rectángulo redondeado 19"/>
          <p:cNvSpPr/>
          <p:nvPr/>
        </p:nvSpPr>
        <p:spPr>
          <a:xfrm>
            <a:off x="7309902" y="1924920"/>
            <a:ext cx="3173380" cy="375828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boleta en PDF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54159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201650"/>
            <a:ext cx="10966305" cy="645469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673" y="533691"/>
            <a:ext cx="3780848" cy="1256472"/>
          </a:xfrm>
          <a:prstGeom prst="rect">
            <a:avLst/>
          </a:prstGeom>
        </p:spPr>
      </p:pic>
      <p:sp>
        <p:nvSpPr>
          <p:cNvPr id="7" name="Rectángulo redondeado 6"/>
          <p:cNvSpPr/>
          <p:nvPr/>
        </p:nvSpPr>
        <p:spPr>
          <a:xfrm>
            <a:off x="7175824" y="458618"/>
            <a:ext cx="3307459" cy="1331545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hogar</a:t>
            </a:r>
            <a:endParaRPr lang="es-CL" dirty="0"/>
          </a:p>
        </p:txBody>
      </p:sp>
      <p:sp>
        <p:nvSpPr>
          <p:cNvPr id="8" name="CuadroTexto 7"/>
          <p:cNvSpPr txBox="1"/>
          <p:nvPr/>
        </p:nvSpPr>
        <p:spPr>
          <a:xfrm>
            <a:off x="3636097" y="5968133"/>
            <a:ext cx="795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</a:rPr>
              <a:t>EFICIENCIA ENERGETICA + ENERGIA RENOVABLE + </a:t>
            </a:r>
            <a:endParaRPr lang="es-CL" dirty="0">
              <a:solidFill>
                <a:schemeClr val="bg1"/>
              </a:solidFill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1745673" y="1948205"/>
            <a:ext cx="5304056" cy="352543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Esto quiero ahorrar</a:t>
            </a:r>
            <a:endParaRPr lang="es-CL" dirty="0"/>
          </a:p>
        </p:txBody>
      </p:sp>
      <p:sp>
        <p:nvSpPr>
          <p:cNvPr id="15" name="Rectángulo redondeado 14"/>
          <p:cNvSpPr/>
          <p:nvPr/>
        </p:nvSpPr>
        <p:spPr>
          <a:xfrm>
            <a:off x="7175824" y="4685584"/>
            <a:ext cx="3362314" cy="1293607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 smtClean="0"/>
              <a:t>Mide tu techo</a:t>
            </a:r>
            <a:endParaRPr lang="es-CL" sz="2400" dirty="0"/>
          </a:p>
        </p:txBody>
      </p:sp>
      <p:sp>
        <p:nvSpPr>
          <p:cNvPr id="19" name="Rectángulo redondeado 18"/>
          <p:cNvSpPr/>
          <p:nvPr/>
        </p:nvSpPr>
        <p:spPr>
          <a:xfrm>
            <a:off x="2051846" y="2491764"/>
            <a:ext cx="4817806" cy="983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Elipse 17"/>
          <p:cNvSpPr/>
          <p:nvPr/>
        </p:nvSpPr>
        <p:spPr>
          <a:xfrm>
            <a:off x="6683840" y="2403273"/>
            <a:ext cx="344129" cy="27530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CuadroTexto 19"/>
          <p:cNvSpPr txBox="1"/>
          <p:nvPr/>
        </p:nvSpPr>
        <p:spPr>
          <a:xfrm>
            <a:off x="3396422" y="2767067"/>
            <a:ext cx="2636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100% = 500kW h mes</a:t>
            </a:r>
            <a:endParaRPr lang="es-CL" dirty="0"/>
          </a:p>
        </p:txBody>
      </p:sp>
      <p:pic>
        <p:nvPicPr>
          <p:cNvPr id="22" name="Picture 2" descr="kits Solares - HAKON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448" y="3168267"/>
            <a:ext cx="3169198" cy="3169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/>
          <p:cNvSpPr txBox="1"/>
          <p:nvPr/>
        </p:nvSpPr>
        <p:spPr>
          <a:xfrm>
            <a:off x="5927442" y="3097071"/>
            <a:ext cx="55533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chemeClr val="tx2">
                    <a:lumMod val="75000"/>
                  </a:schemeClr>
                </a:solidFill>
              </a:rPr>
              <a:t>Kit solar de 5,6 </a:t>
            </a:r>
            <a:r>
              <a:rPr lang="es-ES" sz="2400" dirty="0" err="1" smtClean="0">
                <a:solidFill>
                  <a:schemeClr val="tx2">
                    <a:lumMod val="75000"/>
                  </a:schemeClr>
                </a:solidFill>
              </a:rPr>
              <a:t>Kw</a:t>
            </a:r>
            <a:r>
              <a:rPr lang="es-ES" sz="2400" dirty="0" smtClean="0">
                <a:solidFill>
                  <a:schemeClr val="tx2">
                    <a:lumMod val="75000"/>
                  </a:schemeClr>
                </a:solidFill>
              </a:rPr>
              <a:t> potencia instalada con inversor hibrido de 5Kw ONGRID. Superficie requerida 19,8 m2 libre de sombras</a:t>
            </a:r>
            <a:endParaRPr lang="es-CL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23" name="Picture 2" descr="kits Solares - HAKON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467" y="3168267"/>
            <a:ext cx="3475023" cy="3169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kits Solares - HAKON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461" y="3168267"/>
            <a:ext cx="3475023" cy="3169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/>
          <p:cNvSpPr/>
          <p:nvPr/>
        </p:nvSpPr>
        <p:spPr>
          <a:xfrm>
            <a:off x="4663259" y="3457606"/>
            <a:ext cx="711200" cy="8938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843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201650"/>
            <a:ext cx="10966305" cy="645469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673" y="533691"/>
            <a:ext cx="3780848" cy="1256472"/>
          </a:xfrm>
          <a:prstGeom prst="rect">
            <a:avLst/>
          </a:prstGeom>
        </p:spPr>
      </p:pic>
      <p:sp>
        <p:nvSpPr>
          <p:cNvPr id="7" name="Rectángulo redondeado 6"/>
          <p:cNvSpPr/>
          <p:nvPr/>
        </p:nvSpPr>
        <p:spPr>
          <a:xfrm>
            <a:off x="7175824" y="458618"/>
            <a:ext cx="3307459" cy="133154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8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hogar</a:t>
            </a:r>
            <a:endParaRPr lang="es-CL" dirty="0"/>
          </a:p>
        </p:txBody>
      </p:sp>
      <p:sp>
        <p:nvSpPr>
          <p:cNvPr id="8" name="CuadroTexto 7"/>
          <p:cNvSpPr txBox="1"/>
          <p:nvPr/>
        </p:nvSpPr>
        <p:spPr>
          <a:xfrm>
            <a:off x="3636097" y="5968133"/>
            <a:ext cx="795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</a:rPr>
              <a:t>EFICIENCIA ENERGETICA + ENERGIA RENOVABLE + </a:t>
            </a:r>
            <a:endParaRPr lang="es-CL" dirty="0">
              <a:solidFill>
                <a:schemeClr val="bg1"/>
              </a:solidFill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1745673" y="1948205"/>
            <a:ext cx="5304056" cy="352543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UBICACION</a:t>
            </a:r>
            <a:endParaRPr lang="es-CL" dirty="0"/>
          </a:p>
        </p:txBody>
      </p:sp>
      <p:sp>
        <p:nvSpPr>
          <p:cNvPr id="16" name="Rectángulo redondeado 15"/>
          <p:cNvSpPr/>
          <p:nvPr/>
        </p:nvSpPr>
        <p:spPr>
          <a:xfrm>
            <a:off x="965201" y="2730500"/>
            <a:ext cx="4599946" cy="3046617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DONDE ESTARÁ TU PROYECTO (MAPS)</a:t>
            </a:r>
            <a:endParaRPr lang="es-CL" dirty="0"/>
          </a:p>
        </p:txBody>
      </p:sp>
      <p:sp>
        <p:nvSpPr>
          <p:cNvPr id="10" name="Rectángulo redondeado 9"/>
          <p:cNvSpPr/>
          <p:nvPr/>
        </p:nvSpPr>
        <p:spPr>
          <a:xfrm>
            <a:off x="5901959" y="2932508"/>
            <a:ext cx="5304056" cy="352543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Esto quiero ahorrar</a:t>
            </a:r>
            <a:endParaRPr lang="es-CL" dirty="0"/>
          </a:p>
        </p:txBody>
      </p:sp>
      <p:sp>
        <p:nvSpPr>
          <p:cNvPr id="11" name="Rectángulo redondeado 10"/>
          <p:cNvSpPr/>
          <p:nvPr/>
        </p:nvSpPr>
        <p:spPr>
          <a:xfrm>
            <a:off x="6208132" y="3476067"/>
            <a:ext cx="4817806" cy="983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Elipse 11"/>
          <p:cNvSpPr/>
          <p:nvPr/>
        </p:nvSpPr>
        <p:spPr>
          <a:xfrm>
            <a:off x="10840126" y="3387576"/>
            <a:ext cx="344129" cy="27530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CuadroTexto 12"/>
          <p:cNvSpPr txBox="1"/>
          <p:nvPr/>
        </p:nvSpPr>
        <p:spPr>
          <a:xfrm>
            <a:off x="7552708" y="3751370"/>
            <a:ext cx="2636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100% = 500kW h mes</a:t>
            </a:r>
            <a:endParaRPr lang="es-CL" dirty="0"/>
          </a:p>
        </p:txBody>
      </p:sp>
      <p:sp>
        <p:nvSpPr>
          <p:cNvPr id="2" name="Rectángulo 1"/>
          <p:cNvSpPr/>
          <p:nvPr/>
        </p:nvSpPr>
        <p:spPr>
          <a:xfrm>
            <a:off x="6750854" y="4240327"/>
            <a:ext cx="201032" cy="14799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/>
          <p:cNvSpPr/>
          <p:nvPr/>
        </p:nvSpPr>
        <p:spPr>
          <a:xfrm>
            <a:off x="7101649" y="4547021"/>
            <a:ext cx="157205" cy="1173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 17"/>
          <p:cNvSpPr/>
          <p:nvPr/>
        </p:nvSpPr>
        <p:spPr>
          <a:xfrm>
            <a:off x="7439833" y="4725627"/>
            <a:ext cx="174621" cy="994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Rectángulo 18"/>
          <p:cNvSpPr/>
          <p:nvPr/>
        </p:nvSpPr>
        <p:spPr>
          <a:xfrm>
            <a:off x="7742683" y="4971024"/>
            <a:ext cx="176895" cy="778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Rectángulo 19"/>
          <p:cNvSpPr/>
          <p:nvPr/>
        </p:nvSpPr>
        <p:spPr>
          <a:xfrm>
            <a:off x="8098283" y="5252107"/>
            <a:ext cx="198179" cy="5098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Rectángulo 20"/>
          <p:cNvSpPr/>
          <p:nvPr/>
        </p:nvSpPr>
        <p:spPr>
          <a:xfrm>
            <a:off x="8475167" y="5541446"/>
            <a:ext cx="217469" cy="232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Rectángulo 21"/>
          <p:cNvSpPr/>
          <p:nvPr/>
        </p:nvSpPr>
        <p:spPr>
          <a:xfrm>
            <a:off x="8870745" y="5252107"/>
            <a:ext cx="198179" cy="5098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Rectángulo 22"/>
          <p:cNvSpPr/>
          <p:nvPr/>
        </p:nvSpPr>
        <p:spPr>
          <a:xfrm>
            <a:off x="9237386" y="5011357"/>
            <a:ext cx="176895" cy="778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Rectángulo 23"/>
          <p:cNvSpPr/>
          <p:nvPr/>
        </p:nvSpPr>
        <p:spPr>
          <a:xfrm>
            <a:off x="9578982" y="4784424"/>
            <a:ext cx="174621" cy="994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Rectángulo 24"/>
          <p:cNvSpPr/>
          <p:nvPr/>
        </p:nvSpPr>
        <p:spPr>
          <a:xfrm>
            <a:off x="9931245" y="4607760"/>
            <a:ext cx="157205" cy="11733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Rectángulo 25"/>
          <p:cNvSpPr/>
          <p:nvPr/>
        </p:nvSpPr>
        <p:spPr>
          <a:xfrm>
            <a:off x="10286845" y="4318421"/>
            <a:ext cx="201032" cy="14799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19737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1981</TotalTime>
  <Words>1129</Words>
  <Application>Microsoft Office PowerPoint</Application>
  <PresentationFormat>Panorámica</PresentationFormat>
  <Paragraphs>400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Candara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Rocio Robles</dc:creator>
  <cp:lastModifiedBy>Rocio Robles</cp:lastModifiedBy>
  <cp:revision>50</cp:revision>
  <dcterms:created xsi:type="dcterms:W3CDTF">2026-09-12T14:56:58Z</dcterms:created>
  <dcterms:modified xsi:type="dcterms:W3CDTF">2026-09-13T23:58:51Z</dcterms:modified>
</cp:coreProperties>
</file>